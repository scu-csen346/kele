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everyone — we're team Cyberdyne. I'm Ulises, this is Max. We spent the quarter reproducing a 2025 EMNLP Findings paper called KELE — a multi-agent framework for Socratic teaching with LLMs — and then extending it in three ways. The most surprising thing we found is that the paper's headline result reverses under a fair metric. We'll walk you through what we built, what we measured, and what that reversal actually means.</a:t>
            </a:r>
          </a:p>
          <a:p/>
          <a:p>
            <a:r>
              <a:t>Transition: "Let me start with a quick refresher on the problem and what KELE proposes."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refresher — most of you saw our initial pitch in April, so I'll move fast. The Socratic teaching problem is to guide the student to the answer instead of giving it. KELE operationalizes that with a fixed five-stage script — greeting, questioning, correction, affirmation, closure — which they call SocRules.</a:t>
            </a:r>
          </a:p>
          <a:p/>
          <a:p>
            <a:r>
              <a:t>The architecture is two agents: a Consultant that classifies which stage the dialogue is in — GPT-4o in the paper — and a Teacher that generates the response — SocratTeachLLM, a GLM-4 9B fine-tuned on their dataset. The benchmark is SocratDataset, about 6,800 Chinese tutoring dialogues with a 681-dialogue test split. The published headline is that their 9B fine-tuned Teacher surpasses GPT-4o on ROUGE-1, ROUGE-2, and BLEU-4. Note I said 'on their metrics' — that's the thread I'm pulling in two slides.</a:t>
            </a:r>
          </a:p>
          <a:p/>
          <a:p>
            <a:r>
              <a:t>Transition: "In April we proposed four future improvements. Here's the scoreboard."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April we made four promises about what we'd try. Here's the honest scoreboard.</a:t>
            </a:r>
          </a:p>
          <a:p/>
          <a:p>
            <a:r>
              <a:t>We dropped two of them. Mixture-of-Experts for multi-subject teaching — we couldn't find a multi-subject Socratic corpus within our budget, and without one, MoE has nothing to gate on. So we dropped it cleanly.</a:t>
            </a:r>
          </a:p>
          <a:p/>
          <a:p>
            <a:r>
              <a:t>RL-based stage transitions — we dropped this for a more interesting empirical reason. Our reproduction work showed that the SocRule transitions are not the bottleneck in KELE. The bottleneck is the consultant's stage classification. So learning the transitions wouldn't have moved the needle — improving the consultant did.</a:t>
            </a:r>
          </a:p>
          <a:p/>
          <a:p>
            <a:r>
              <a:t>We shipped the other two. Item 3 — the learned consultant via discrete classifier — became our locked paper headline. Max will show you the numbers. Item 4 — stronger evaluation — expanded significantly: 142 model configurations measured, an 8-cell cross-teacher matrix, bootstrap convergence analysis. We over-delivered on evaluation.</a:t>
            </a:r>
          </a:p>
          <a:p/>
          <a:p>
            <a:r>
              <a:t>And on top of those two, we found three things we didn't anticipate when we pitched. The biggest one — the one I'm going to show you next — is that the paper's published winner isn't actually the winner under a memorization-resistant metric. That finding drove everything that came after it.</a:t>
            </a:r>
          </a:p>
          <a:p/>
          <a:p>
            <a:r>
              <a:t>Transition: "Let me show you what we found."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April we showed you the paper's table — SocratTeachLLM beats GPT-4o on all 13 metrics. Four of them are token-overlap — ROUGE-1, ROUGE-2, ROUGE-L, BLEU-4. The other nine are pedagogical rubric scores. The paper presents this as a clean 9B-beats-frontier story.</a:t>
            </a:r>
          </a:p>
          <a:p/>
          <a:p>
            <a:r>
              <a:t>Here's what we found. On the same ten configurations the paper evaluates, those four token-overlap metrics produce the ranking on the left. SocratTeachLLM first, Claude Opus raw last. Now look at the right — same ten configurations, ranked under a memorization-resistant metric. The ordering is almost exactly reversed. Our open-weight Gemma 31B plus BERT system is first; SocratTeachLLM is last.</a:t>
            </a:r>
          </a:p>
          <a:p/>
          <a:p>
            <a:r>
              <a:t>Why does this happen? ROUGE and BLEU are token-overlap metrics. They reward output that looks lexically similar to the reference. They don't measure whether the model taught anything. And SocratTeachLLM was fine-tuned on 90% of the dataset — the paper says so in section 4.3 — but the train/test split was never released. So any third party drawing a different random 10% sample is measuring memorization, not teaching.</a:t>
            </a:r>
          </a:p>
          <a:p/>
          <a:p>
            <a:r>
              <a:t>The fingerprint is in the numbers. The gap to STL widens as the n-gram order grows. Unigrams, plus 1.59. Bigrams, plus 4.92. 4-grams, plus 4.07. Memorization compounds with sequence length. We don't see that on the LLM-judge rubric or on our memorization-resistant metrics — and Max will show you on slide 7 that when we evaluate STL on data it has never seen, its score collapses 30 points. That implicates the broader 13-metric claim, not just ROUGE and BLEU.</a:t>
            </a:r>
          </a:p>
          <a:p/>
          <a:p>
            <a:r>
              <a:t>Transition: "So we needed a different metric. Max will explain what we built — and the new architecture that goes with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made two changes to KELE. The first is structural — and this is direction number 3 from our April pitch, the learned consultant via discrete classifier. We replaced GPT-4o with a fine-tuned BERT model — specifically bge-small-zh, 24 million parameters, frozen base with two classification heads. A 5-way head for the SocRule stage, a 34-way head for finer-grained sub-states. Training takes under a hundred seconds on a consumer GPU.</a:t>
            </a:r>
          </a:p>
          <a:p/>
          <a:p>
            <a:r>
              <a:t>The table shows what happens. The original KELE consultant — GPT-4o — gets the dialogue's state right 26% of the time. Our BERT consultant, paired with Gemma 31B as the teacher, gets it right 48% of the time. With Claude Sonnet, 50%. That's a 22 to 24 percentage-point absolute lift, and our consultant runs locally at zero API cost. The intuition is just that classifying which of five Socratic stages a dialogue is in is a classification problem, not a generation problem — you don't need a hundred-billion-parameter model for that.</a:t>
            </a:r>
          </a:p>
          <a:p/>
          <a:p>
            <a:r>
              <a:t>The second change is the metric. We propose the unified score — half stage-balanced accuracy, half an LLM judge. Stage-balanced is macro-F1 over the five SocRule stages — this matters because the stage distribution is skewed; questioning is about 40% of turns, closure is about 10%. Macro-accuracy hides failures on the rare stages, and closure is exactly the stage you can't afford to fail on. The LLM judge is Claude Sonnet 4.6 scoring four rubric axes — Socratic validity, stage advancement, age-appropriateness, question form. The two axes are orthogonal — neither rewards token-level mimicry of the training set, so neither inflates SocratTeachLLM's score.</a:t>
            </a:r>
          </a:p>
          <a:p/>
          <a:p>
            <a:r>
              <a:t>Transition: "Here's what happens when you actually run the full leaderboard on this metric."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ran 142 configurations end-to-end on the SocratDataset test split. 37 of them have the full unified score with both stage-balanced and LLM-judge measurements. Here's the top of the table.</a:t>
            </a:r>
          </a:p>
          <a:p/>
          <a:p>
            <a:r>
              <a:t>The headline finding is at the top. The best frontier configuration — a BERT consultant paired with Claude Sonnet as the teacher, full n=681 — scores unified 70.06. The best open-weight configuration — BERT consultant paired with Gemma 31B — scores 70.08. That's a gap of two hundredths of a point. Effectively zero. Indistinguishable.</a:t>
            </a:r>
          </a:p>
          <a:p/>
          <a:p>
            <a:r>
              <a:t>The row marked with the trophy — number 7 — is our locked paper headline: BERT consultant, Gemma 31B teacher, ten-shot prompting, full n=681. It scores 68.65. That's 1.41 points behind the frontier ceiling — but well inside our measurement noise at this sample size. Importantly, this configuration runs entirely on a 32 GB consumer GPU at zero per-inference API cost.</a:t>
            </a:r>
          </a:p>
          <a:p/>
          <a:p>
            <a:r>
              <a:t>The two rows with warning triangles are SocratTeachLLM-based — contamination-inflated, exactly the pattern from slide 4. And notice the very last row — Claude Sonnet teaching with SocratTeachLLM on English — scores 44 unified, dead last. That's a contamination signature flipping the other way when the test data leaves the training distribution.</a:t>
            </a:r>
          </a:p>
          <a:p/>
          <a:p>
            <a:r>
              <a:t>So the takeaway: open-weight local models on a memorization-resistant benchmark — they don't trail the frontier. They sit right next to it.</a:t>
            </a:r>
          </a:p>
          <a:p/>
          <a:p>
            <a:r>
              <a:t>Transition: "But the contamination claim is doing a lot of work on this slide. Let me show you the direct evidence."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prove the contamination claim directly, we built a fully synthetic test set — 75 Socratic tutoring dialogues generated by Claude, schema-matched to SocratDataset but never seen by any model during training. We then evaluated SocratTeachLLM on it. On the original test set, SocratTeachLLM's stage-balanced accuracy is 63.4 — that's the number the paper reports. On the synthetic clean test set, it drops to 32.86. A 30-point collapse. That's not a model that learned to teach — that's a model that learned to recite the training set.</a:t>
            </a:r>
          </a:p>
          <a:p/>
          <a:p>
            <a:r>
              <a:t>The second result on this slide is the cross-lingual transfer experiment. We translated the entire 6,803-dialogue SocratDataset to English — that's SocratDataset-EN, live on HuggingFace. Then we took our Chinese-trained consultant — never saw a word of English during training — and evaluated it on the English split. It scores unified 65.11. The SocRule routing behavior is essentially language-invariant. The pedagogical stages are universal.</a:t>
            </a:r>
          </a:p>
          <a:p/>
          <a:p>
            <a:r>
              <a:t>One quick update from the last week — we just shipped PR #79, which extends the synthetic contamination probe to English as well, so we now have memorization-resistant evaluation data in both languages.</a:t>
            </a:r>
          </a:p>
          <a:p/>
          <a:p>
            <a:r>
              <a:t>Transition: "Let me close with what to take away."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to take home. First: you can replace a hundred-billion-parameter LLM consultant with a 24-million-parameter BERT classifier and you don't lose any pedagogical accuracy. The Socratic state-routing task is a classification problem, not a generation problem.</a:t>
            </a:r>
          </a:p>
          <a:p/>
          <a:p>
            <a:r>
              <a:t>Second: ROUGE and BLEU are systematically misleading for any teaching task where the reference model was fine-tuned on the test distribution. The published winner of the KELE benchmark ranks last on pedagogical accuracy when you use a memorization-resistant metric. The unified score we propose — half stage-balanced accuracy, half LLM-judge — is one way to fix this. We don't claim it's the only way.</a:t>
            </a:r>
          </a:p>
          <a:p/>
          <a:p>
            <a:r>
              <a:t>Third: when you do measure pedagogy instead of n-gram overlap, open-weight local models like Gemma 31B reach frontier parity. Our system ties Claude Sonnet within measurement noise, runs on a consumer GPU, and costs zero API dollars per inference.</a:t>
            </a:r>
          </a:p>
          <a:p/>
          <a:p>
            <a:r>
              <a:t>The paper goes to the deeper experiments — eight-cell cross-teacher matrix, bootstrap convergence analysis showing n=400 is sufficient, the full contamination proof. We're also mid-sprint on a Stage 2 SFT teacher of our own — we shipped the pipeline yesterday in PR #79, and training is running right now on Gemma 4 31B. We had to pivot off of Qwen3.6-27B because of a Triton kernel bug on our AMD GPU — happy to talk about that in Q&amp;A if it's interesting.</a:t>
            </a:r>
          </a:p>
          <a:p/>
          <a:p>
            <a:r>
              <a:t>Repo, HuggingFace, and the paper draft are all linked.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D2D32"/>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5C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12191695" cy="36576"/>
          </a:xfrm>
          <a:prstGeom prst="rect">
            <a:avLst/>
          </a:prstGeom>
          <a:solidFill>
            <a:srgbClr val="F08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46304"/>
            <a:ext cx="12191695" cy="36576"/>
          </a:xfrm>
          <a:prstGeom prst="rect">
            <a:avLst/>
          </a:prstGeom>
          <a:solidFill>
            <a:srgbClr val="E06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972800" cy="914400"/>
          </a:xfrm>
          <a:prstGeom prst="rect">
            <a:avLst/>
          </a:prstGeom>
          <a:noFill/>
        </p:spPr>
        <p:txBody>
          <a:bodyPr wrap="square">
            <a:spAutoFit/>
          </a:bodyPr>
          <a:lstStyle/>
          <a:p>
            <a:pPr algn="l"/>
            <a:r>
              <a:rPr sz="5400" b="1" i="0">
                <a:solidFill>
                  <a:srgbClr val="F2EEE5"/>
                </a:solidFill>
                <a:latin typeface="Calibri"/>
              </a:rPr>
              <a:t>Beyond Memorization</a:t>
            </a:r>
          </a:p>
        </p:txBody>
      </p:sp>
      <p:sp>
        <p:nvSpPr>
          <p:cNvPr id="6" name="TextBox 5"/>
          <p:cNvSpPr txBox="1"/>
          <p:nvPr/>
        </p:nvSpPr>
        <p:spPr>
          <a:xfrm>
            <a:off x="548640" y="2286000"/>
            <a:ext cx="10972800" cy="548640"/>
          </a:xfrm>
          <a:prstGeom prst="rect">
            <a:avLst/>
          </a:prstGeom>
          <a:noFill/>
        </p:spPr>
        <p:txBody>
          <a:bodyPr wrap="square">
            <a:spAutoFit/>
          </a:bodyPr>
          <a:lstStyle/>
          <a:p>
            <a:pPr algn="l"/>
            <a:r>
              <a:rPr sz="2400" b="0" i="0">
                <a:solidFill>
                  <a:srgbClr val="F5C84C"/>
                </a:solidFill>
                <a:latin typeface="Calibri"/>
              </a:rPr>
              <a:t>Reproducing and Extending KELE for Socratic Teaching with LLMs</a:t>
            </a:r>
          </a:p>
        </p:txBody>
      </p:sp>
      <p:sp>
        <p:nvSpPr>
          <p:cNvPr id="7" name="Rectangle 6"/>
          <p:cNvSpPr/>
          <p:nvPr/>
        </p:nvSpPr>
        <p:spPr>
          <a:xfrm>
            <a:off x="548640" y="2926080"/>
            <a:ext cx="1371600" cy="45720"/>
          </a:xfrm>
          <a:prstGeom prst="rect">
            <a:avLst/>
          </a:prstGeom>
          <a:solidFill>
            <a:srgbClr val="F5C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108960"/>
            <a:ext cx="10972800" cy="365760"/>
          </a:xfrm>
          <a:prstGeom prst="rect">
            <a:avLst/>
          </a:prstGeom>
          <a:noFill/>
        </p:spPr>
        <p:txBody>
          <a:bodyPr wrap="square">
            <a:spAutoFit/>
          </a:bodyPr>
          <a:lstStyle/>
          <a:p>
            <a:pPr algn="l"/>
            <a:r>
              <a:rPr sz="2000" b="0" i="0">
                <a:solidFill>
                  <a:srgbClr val="F2EEE5"/>
                </a:solidFill>
                <a:latin typeface="Calibri"/>
              </a:rPr>
              <a:t>Team Cyberdyne — Ulises Chavarria · Maximilian Khan</a:t>
            </a:r>
          </a:p>
        </p:txBody>
      </p:sp>
      <p:sp>
        <p:nvSpPr>
          <p:cNvPr id="9" name="TextBox 8"/>
          <p:cNvSpPr txBox="1"/>
          <p:nvPr/>
        </p:nvSpPr>
        <p:spPr>
          <a:xfrm>
            <a:off x="548640" y="3520440"/>
            <a:ext cx="10972800" cy="365760"/>
          </a:xfrm>
          <a:prstGeom prst="rect">
            <a:avLst/>
          </a:prstGeom>
          <a:noFill/>
        </p:spPr>
        <p:txBody>
          <a:bodyPr wrap="square">
            <a:spAutoFit/>
          </a:bodyPr>
          <a:lstStyle/>
          <a:p>
            <a:pPr algn="l"/>
            <a:r>
              <a:rPr sz="1600" b="0" i="0">
                <a:solidFill>
                  <a:srgbClr val="B8B8B8"/>
                </a:solidFill>
                <a:latin typeface="Calibri"/>
              </a:rPr>
              <a:t>CSEN 346 · Santa Clara University · Spring 2026</a:t>
            </a:r>
          </a:p>
        </p:txBody>
      </p:sp>
      <p:sp>
        <p:nvSpPr>
          <p:cNvPr id="10" name="TextBox 9"/>
          <p:cNvSpPr txBox="1"/>
          <p:nvPr/>
        </p:nvSpPr>
        <p:spPr>
          <a:xfrm>
            <a:off x="548640" y="4754880"/>
            <a:ext cx="10972800" cy="365760"/>
          </a:xfrm>
          <a:prstGeom prst="rect">
            <a:avLst/>
          </a:prstGeom>
          <a:noFill/>
        </p:spPr>
        <p:txBody>
          <a:bodyPr wrap="square">
            <a:spAutoFit/>
          </a:bodyPr>
          <a:lstStyle/>
          <a:p>
            <a:pPr algn="l"/>
            <a:r>
              <a:rPr sz="1400" b="0" i="0">
                <a:solidFill>
                  <a:srgbClr val="B8B8B8"/>
                </a:solidFill>
                <a:latin typeface="Calibri"/>
              </a:rPr>
              <a:t>Paper reproduced: Peng et al., KELE: A Multi-Agent Framework for Structured Socratic Teaching, EMNLP 2025 Findings</a:t>
            </a:r>
          </a:p>
        </p:txBody>
      </p:sp>
      <p:sp>
        <p:nvSpPr>
          <p:cNvPr id="11" name="TextBox 10"/>
          <p:cNvSpPr txBox="1"/>
          <p:nvPr/>
        </p:nvSpPr>
        <p:spPr>
          <a:xfrm>
            <a:off x="548640" y="5166360"/>
            <a:ext cx="10972800" cy="365760"/>
          </a:xfrm>
          <a:prstGeom prst="rect">
            <a:avLst/>
          </a:prstGeom>
          <a:noFill/>
        </p:spPr>
        <p:txBody>
          <a:bodyPr wrap="square">
            <a:spAutoFit/>
          </a:bodyPr>
          <a:lstStyle/>
          <a:p>
            <a:pPr algn="l"/>
            <a:r>
              <a:rPr sz="1400" b="0" i="0">
                <a:solidFill>
                  <a:srgbClr val="6AA8E0"/>
                </a:solidFill>
                <a:latin typeface="Calibri"/>
              </a:rPr>
              <a:t>github.com/ulises-c/csen-346  ·  huggingface.co/ulises-c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D2D32"/>
        </a:solidFill>
        <a:effectLst/>
      </p:bgPr>
    </p:bg>
    <p:spTree>
      <p:nvGrpSpPr>
        <p:cNvPr id="1" name=""/>
        <p:cNvGrpSpPr/>
        <p:nvPr/>
      </p:nvGrpSpPr>
      <p:grpSpPr/>
      <p:sp>
        <p:nvSpPr>
          <p:cNvPr id="2" name="TextBox 1"/>
          <p:cNvSpPr txBox="1"/>
          <p:nvPr/>
        </p:nvSpPr>
        <p:spPr>
          <a:xfrm>
            <a:off x="457200" y="320040"/>
            <a:ext cx="10972800" cy="731520"/>
          </a:xfrm>
          <a:prstGeom prst="rect">
            <a:avLst/>
          </a:prstGeom>
          <a:noFill/>
        </p:spPr>
        <p:txBody>
          <a:bodyPr wrap="square">
            <a:spAutoFit/>
          </a:bodyPr>
          <a:lstStyle/>
          <a:p>
            <a:pPr algn="l"/>
            <a:r>
              <a:rPr sz="3200" b="1" i="0">
                <a:solidFill>
                  <a:srgbClr val="F5C84C"/>
                </a:solidFill>
                <a:latin typeface="Calibri"/>
              </a:rPr>
              <a:t>Quick Refresher: KELE in One Slide</a:t>
            </a:r>
          </a:p>
        </p:txBody>
      </p:sp>
      <p:sp>
        <p:nvSpPr>
          <p:cNvPr id="3" name="Rectangle 2"/>
          <p:cNvSpPr/>
          <p:nvPr/>
        </p:nvSpPr>
        <p:spPr>
          <a:xfrm>
            <a:off x="457200" y="960120"/>
            <a:ext cx="1097280" cy="45720"/>
          </a:xfrm>
          <a:prstGeom prst="rect">
            <a:avLst/>
          </a:prstGeom>
          <a:solidFill>
            <a:srgbClr val="F5C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78992"/>
            <a:ext cx="7315200" cy="274320"/>
          </a:xfrm>
          <a:prstGeom prst="rect">
            <a:avLst/>
          </a:prstGeom>
          <a:noFill/>
        </p:spPr>
        <p:txBody>
          <a:bodyPr wrap="square">
            <a:spAutoFit/>
          </a:bodyPr>
          <a:lstStyle/>
          <a:p>
            <a:pPr algn="l"/>
            <a:r>
              <a:rPr sz="1200" b="0" i="0">
                <a:solidFill>
                  <a:srgbClr val="B8B8B8"/>
                </a:solidFill>
                <a:latin typeface="Calibri"/>
              </a:rPr>
              <a:t>Ulises · ~60 s · you saw this in our April pitch</a:t>
            </a:r>
          </a:p>
        </p:txBody>
      </p:sp>
      <p:sp>
        <p:nvSpPr>
          <p:cNvPr id="5" name="TextBox 4"/>
          <p:cNvSpPr txBox="1"/>
          <p:nvPr/>
        </p:nvSpPr>
        <p:spPr>
          <a:xfrm>
            <a:off x="365760" y="6446520"/>
            <a:ext cx="10972800" cy="274320"/>
          </a:xfrm>
          <a:prstGeom prst="rect">
            <a:avLst/>
          </a:prstGeom>
          <a:noFill/>
        </p:spPr>
        <p:txBody>
          <a:bodyPr wrap="square">
            <a:spAutoFit/>
          </a:bodyPr>
          <a:lstStyle/>
          <a:p>
            <a:pPr algn="l"/>
            <a:r>
              <a:rPr sz="1000" b="0" i="0">
                <a:solidFill>
                  <a:srgbClr val="B8B8B8"/>
                </a:solidFill>
                <a:latin typeface="Calibri"/>
              </a:rPr>
              <a:t>CSEN 346 · Natural Language Processing · Cyberdyne · May 26, 2026</a:t>
            </a:r>
          </a:p>
        </p:txBody>
      </p:sp>
      <p:sp>
        <p:nvSpPr>
          <p:cNvPr id="6" name="TextBox 5"/>
          <p:cNvSpPr txBox="1"/>
          <p:nvPr/>
        </p:nvSpPr>
        <p:spPr>
          <a:xfrm>
            <a:off x="457200" y="1554480"/>
            <a:ext cx="10972800" cy="365760"/>
          </a:xfrm>
          <a:prstGeom prst="rect">
            <a:avLst/>
          </a:prstGeom>
          <a:noFill/>
        </p:spPr>
        <p:txBody>
          <a:bodyPr wrap="square">
            <a:spAutoFit/>
          </a:bodyPr>
          <a:lstStyle/>
          <a:p>
            <a:pPr algn="l"/>
            <a:r>
              <a:rPr sz="1800" b="0" i="0">
                <a:solidFill>
                  <a:srgbClr val="F2EEE5"/>
                </a:solidFill>
                <a:latin typeface="Calibri"/>
              </a:rPr>
              <a:t>The Socratic problem: guide the student to the answer; don't give it.</a:t>
            </a:r>
          </a:p>
        </p:txBody>
      </p:sp>
      <p:sp>
        <p:nvSpPr>
          <p:cNvPr id="7" name="TextBox 6"/>
          <p:cNvSpPr txBox="1"/>
          <p:nvPr/>
        </p:nvSpPr>
        <p:spPr>
          <a:xfrm>
            <a:off x="457200" y="2103120"/>
            <a:ext cx="5486400" cy="365760"/>
          </a:xfrm>
          <a:prstGeom prst="rect">
            <a:avLst/>
          </a:prstGeom>
          <a:noFill/>
        </p:spPr>
        <p:txBody>
          <a:bodyPr wrap="square">
            <a:spAutoFit/>
          </a:bodyPr>
          <a:lstStyle/>
          <a:p>
            <a:pPr algn="l"/>
            <a:r>
              <a:rPr sz="1600" b="1" i="0">
                <a:solidFill>
                  <a:srgbClr val="F5C84C"/>
                </a:solidFill>
                <a:latin typeface="Calibri"/>
              </a:rPr>
              <a:t>SocRules — KELE's 5-stage framework:</a:t>
            </a:r>
          </a:p>
        </p:txBody>
      </p:sp>
      <p:sp>
        <p:nvSpPr>
          <p:cNvPr id="8" name="Rounded Rectangle 7"/>
          <p:cNvSpPr/>
          <p:nvPr/>
        </p:nvSpPr>
        <p:spPr>
          <a:xfrm>
            <a:off x="457200" y="2560320"/>
            <a:ext cx="2103120" cy="640080"/>
          </a:xfrm>
          <a:prstGeom prst="roundRect">
            <a:avLst/>
          </a:prstGeom>
          <a:solidFill>
            <a:srgbClr val="3A3A40"/>
          </a:solidFill>
          <a:ln w="12700">
            <a:solidFill>
              <a:srgbClr val="F5C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2EEE5"/>
                </a:solidFill>
                <a:latin typeface="Calibri"/>
              </a:rPr>
              <a:t>a)  greeting</a:t>
            </a:r>
          </a:p>
        </p:txBody>
      </p:sp>
      <p:sp>
        <p:nvSpPr>
          <p:cNvPr id="9" name="Rounded Rectangle 8"/>
          <p:cNvSpPr/>
          <p:nvPr/>
        </p:nvSpPr>
        <p:spPr>
          <a:xfrm>
            <a:off x="2651760" y="2560320"/>
            <a:ext cx="2103120" cy="640080"/>
          </a:xfrm>
          <a:prstGeom prst="roundRect">
            <a:avLst/>
          </a:prstGeom>
          <a:solidFill>
            <a:srgbClr val="3A3A40"/>
          </a:solidFill>
          <a:ln w="12700">
            <a:solidFill>
              <a:srgbClr val="F5C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2EEE5"/>
                </a:solidFill>
                <a:latin typeface="Calibri"/>
              </a:rPr>
              <a:t>b)  questioning</a:t>
            </a:r>
          </a:p>
        </p:txBody>
      </p:sp>
      <p:sp>
        <p:nvSpPr>
          <p:cNvPr id="10" name="Rounded Rectangle 9"/>
          <p:cNvSpPr/>
          <p:nvPr/>
        </p:nvSpPr>
        <p:spPr>
          <a:xfrm>
            <a:off x="4846320" y="2560320"/>
            <a:ext cx="2103120" cy="640080"/>
          </a:xfrm>
          <a:prstGeom prst="roundRect">
            <a:avLst/>
          </a:prstGeom>
          <a:solidFill>
            <a:srgbClr val="3A3A40"/>
          </a:solidFill>
          <a:ln w="12700">
            <a:solidFill>
              <a:srgbClr val="F5C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2EEE5"/>
                </a:solidFill>
                <a:latin typeface="Calibri"/>
              </a:rPr>
              <a:t>c)  correction</a:t>
            </a:r>
          </a:p>
        </p:txBody>
      </p:sp>
      <p:sp>
        <p:nvSpPr>
          <p:cNvPr id="11" name="Rounded Rectangle 10"/>
          <p:cNvSpPr/>
          <p:nvPr/>
        </p:nvSpPr>
        <p:spPr>
          <a:xfrm>
            <a:off x="7040880" y="2560320"/>
            <a:ext cx="2103120" cy="640080"/>
          </a:xfrm>
          <a:prstGeom prst="roundRect">
            <a:avLst/>
          </a:prstGeom>
          <a:solidFill>
            <a:srgbClr val="3A3A40"/>
          </a:solidFill>
          <a:ln w="12700">
            <a:solidFill>
              <a:srgbClr val="F5C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2EEE5"/>
                </a:solidFill>
                <a:latin typeface="Calibri"/>
              </a:rPr>
              <a:t>d)  affirmation</a:t>
            </a:r>
          </a:p>
        </p:txBody>
      </p:sp>
      <p:sp>
        <p:nvSpPr>
          <p:cNvPr id="12" name="Rounded Rectangle 11"/>
          <p:cNvSpPr/>
          <p:nvPr/>
        </p:nvSpPr>
        <p:spPr>
          <a:xfrm>
            <a:off x="9235440" y="2560320"/>
            <a:ext cx="2103120" cy="640080"/>
          </a:xfrm>
          <a:prstGeom prst="roundRect">
            <a:avLst/>
          </a:prstGeom>
          <a:solidFill>
            <a:srgbClr val="3A3A40"/>
          </a:solidFill>
          <a:ln w="12700">
            <a:solidFill>
              <a:srgbClr val="F5C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2EEE5"/>
                </a:solidFill>
                <a:latin typeface="Calibri"/>
              </a:rPr>
              <a:t>e)  closure</a:t>
            </a:r>
          </a:p>
        </p:txBody>
      </p:sp>
      <p:sp>
        <p:nvSpPr>
          <p:cNvPr id="13" name="TextBox 12"/>
          <p:cNvSpPr txBox="1"/>
          <p:nvPr/>
        </p:nvSpPr>
        <p:spPr>
          <a:xfrm>
            <a:off x="457200" y="3520440"/>
            <a:ext cx="10972800" cy="365760"/>
          </a:xfrm>
          <a:prstGeom prst="rect">
            <a:avLst/>
          </a:prstGeom>
          <a:noFill/>
        </p:spPr>
        <p:txBody>
          <a:bodyPr wrap="square">
            <a:spAutoFit/>
          </a:bodyPr>
          <a:lstStyle/>
          <a:p>
            <a:pPr algn="l"/>
            <a:r>
              <a:rPr sz="1600" b="1" i="0">
                <a:solidFill>
                  <a:srgbClr val="F5C84C"/>
                </a:solidFill>
                <a:latin typeface="Calibri"/>
              </a:rPr>
              <a:t>KELE architecture (Peng et al., EMNLP 2025 Findings):</a:t>
            </a:r>
          </a:p>
        </p:txBody>
      </p:sp>
      <p:sp>
        <p:nvSpPr>
          <p:cNvPr id="14" name="TextBox 13"/>
          <p:cNvSpPr txBox="1"/>
          <p:nvPr/>
        </p:nvSpPr>
        <p:spPr>
          <a:xfrm>
            <a:off x="457200" y="3931920"/>
            <a:ext cx="10972800" cy="1280160"/>
          </a:xfrm>
          <a:prstGeom prst="rect">
            <a:avLst/>
          </a:prstGeom>
          <a:noFill/>
        </p:spPr>
        <p:txBody>
          <a:bodyPr wrap="square">
            <a:spAutoFit/>
          </a:bodyPr>
          <a:lstStyle/>
          <a:p>
            <a:pPr algn="l">
              <a:lnSpc>
                <a:spcPct val="115000"/>
              </a:lnSpc>
              <a:spcAft>
                <a:spcPts val="400"/>
              </a:spcAft>
            </a:pPr>
            <a:r>
              <a:rPr sz="1600" b="1">
                <a:solidFill>
                  <a:srgbClr val="F5C84C"/>
                </a:solidFill>
                <a:latin typeface="Calibri"/>
              </a:rPr>
              <a:t>• </a:t>
            </a:r>
            <a:r>
              <a:rPr sz="1500" b="0" i="0">
                <a:solidFill>
                  <a:srgbClr val="F2EEE5"/>
                </a:solidFill>
                <a:latin typeface="Calibri"/>
              </a:rPr>
              <a:t>Consultant (GPT-4o) — classifies which SocRule stage the dialogue is in</a:t>
            </a:r>
          </a:p>
          <a:p>
            <a:pPr algn="l">
              <a:lnSpc>
                <a:spcPct val="115000"/>
              </a:lnSpc>
              <a:spcAft>
                <a:spcPts val="400"/>
              </a:spcAft>
            </a:pPr>
            <a:r>
              <a:rPr sz="1600" b="1">
                <a:solidFill>
                  <a:srgbClr val="F5C84C"/>
                </a:solidFill>
                <a:latin typeface="Calibri"/>
              </a:rPr>
              <a:t>• </a:t>
            </a:r>
            <a:r>
              <a:rPr sz="1500" b="0" i="0">
                <a:solidFill>
                  <a:srgbClr val="F2EEE5"/>
                </a:solidFill>
                <a:latin typeface="Calibri"/>
              </a:rPr>
              <a:t>Teacher (SocratTeachLLM, GLM-4 9B fine-tuned) — generates the response</a:t>
            </a:r>
          </a:p>
          <a:p>
            <a:pPr algn="l">
              <a:lnSpc>
                <a:spcPct val="115000"/>
              </a:lnSpc>
              <a:spcAft>
                <a:spcPts val="400"/>
              </a:spcAft>
            </a:pPr>
            <a:r>
              <a:rPr sz="1600" b="1">
                <a:solidFill>
                  <a:srgbClr val="F5C84C"/>
                </a:solidFill>
                <a:latin typeface="Calibri"/>
              </a:rPr>
              <a:t>• </a:t>
            </a:r>
            <a:r>
              <a:rPr sz="1500" b="0" i="0">
                <a:solidFill>
                  <a:srgbClr val="F2EEE5"/>
                </a:solidFill>
                <a:latin typeface="Calibri"/>
              </a:rPr>
              <a:t>Benchmark: SocratDataset — 6,803 Chinese dialogues · 681-dialogue test split</a:t>
            </a:r>
          </a:p>
        </p:txBody>
      </p:sp>
      <p:sp>
        <p:nvSpPr>
          <p:cNvPr id="15" name="TextBox 14"/>
          <p:cNvSpPr txBox="1"/>
          <p:nvPr/>
        </p:nvSpPr>
        <p:spPr>
          <a:xfrm>
            <a:off x="457200" y="5349240"/>
            <a:ext cx="10972800" cy="457200"/>
          </a:xfrm>
          <a:prstGeom prst="rect">
            <a:avLst/>
          </a:prstGeom>
          <a:noFill/>
        </p:spPr>
        <p:txBody>
          <a:bodyPr wrap="square">
            <a:spAutoFit/>
          </a:bodyPr>
          <a:lstStyle/>
          <a:p>
            <a:pPr algn="l"/>
            <a:r>
              <a:rPr sz="1600" b="1" i="1">
                <a:solidFill>
                  <a:srgbClr val="F08A4B"/>
                </a:solidFill>
                <a:latin typeface="Calibri"/>
              </a:rPr>
              <a:t>Published headline: "SocratTeachLLM surpasses GPT-4o on ROUGE-1/2 and BLEU-4."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D2D32"/>
        </a:solidFill>
        <a:effectLst/>
      </p:bgPr>
    </p:bg>
    <p:spTree>
      <p:nvGrpSpPr>
        <p:cNvPr id="1" name=""/>
        <p:cNvGrpSpPr/>
        <p:nvPr/>
      </p:nvGrpSpPr>
      <p:grpSpPr/>
      <p:sp>
        <p:nvSpPr>
          <p:cNvPr id="2" name="TextBox 1"/>
          <p:cNvSpPr txBox="1"/>
          <p:nvPr/>
        </p:nvSpPr>
        <p:spPr>
          <a:xfrm>
            <a:off x="457200" y="320040"/>
            <a:ext cx="10972800" cy="731520"/>
          </a:xfrm>
          <a:prstGeom prst="rect">
            <a:avLst/>
          </a:prstGeom>
          <a:noFill/>
        </p:spPr>
        <p:txBody>
          <a:bodyPr wrap="square">
            <a:spAutoFit/>
          </a:bodyPr>
          <a:lstStyle/>
          <a:p>
            <a:pPr algn="l"/>
            <a:r>
              <a:rPr sz="3200" b="1" i="0">
                <a:solidFill>
                  <a:srgbClr val="F5C84C"/>
                </a:solidFill>
                <a:latin typeface="Calibri"/>
              </a:rPr>
              <a:t>Pitch → Delivery Scoreboard</a:t>
            </a:r>
          </a:p>
        </p:txBody>
      </p:sp>
      <p:sp>
        <p:nvSpPr>
          <p:cNvPr id="3" name="Rectangle 2"/>
          <p:cNvSpPr/>
          <p:nvPr/>
        </p:nvSpPr>
        <p:spPr>
          <a:xfrm>
            <a:off x="457200" y="960120"/>
            <a:ext cx="1097280" cy="45720"/>
          </a:xfrm>
          <a:prstGeom prst="rect">
            <a:avLst/>
          </a:prstGeom>
          <a:solidFill>
            <a:srgbClr val="F5C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78992"/>
            <a:ext cx="7315200" cy="274320"/>
          </a:xfrm>
          <a:prstGeom prst="rect">
            <a:avLst/>
          </a:prstGeom>
          <a:noFill/>
        </p:spPr>
        <p:txBody>
          <a:bodyPr wrap="square">
            <a:spAutoFit/>
          </a:bodyPr>
          <a:lstStyle/>
          <a:p>
            <a:pPr algn="l"/>
            <a:r>
              <a:rPr sz="1200" b="0" i="0">
                <a:solidFill>
                  <a:srgbClr val="B8B8B8"/>
                </a:solidFill>
                <a:latin typeface="Calibri"/>
              </a:rPr>
              <a:t>Ulises · ~90 s</a:t>
            </a:r>
          </a:p>
        </p:txBody>
      </p:sp>
      <p:sp>
        <p:nvSpPr>
          <p:cNvPr id="5" name="TextBox 4"/>
          <p:cNvSpPr txBox="1"/>
          <p:nvPr/>
        </p:nvSpPr>
        <p:spPr>
          <a:xfrm>
            <a:off x="365760" y="6446520"/>
            <a:ext cx="10972800" cy="274320"/>
          </a:xfrm>
          <a:prstGeom prst="rect">
            <a:avLst/>
          </a:prstGeom>
          <a:noFill/>
        </p:spPr>
        <p:txBody>
          <a:bodyPr wrap="square">
            <a:spAutoFit/>
          </a:bodyPr>
          <a:lstStyle/>
          <a:p>
            <a:pPr algn="l"/>
            <a:r>
              <a:rPr sz="1000" b="0" i="0">
                <a:solidFill>
                  <a:srgbClr val="B8B8B8"/>
                </a:solidFill>
                <a:latin typeface="Calibri"/>
              </a:rPr>
              <a:t>CSEN 346 · Natural Language Processing · Cyberdyne · May 26, 2026</a:t>
            </a:r>
          </a:p>
        </p:txBody>
      </p:sp>
      <p:sp>
        <p:nvSpPr>
          <p:cNvPr id="6" name="TextBox 5"/>
          <p:cNvSpPr txBox="1"/>
          <p:nvPr/>
        </p:nvSpPr>
        <p:spPr>
          <a:xfrm>
            <a:off x="457200" y="1417320"/>
            <a:ext cx="11430000" cy="365760"/>
          </a:xfrm>
          <a:prstGeom prst="rect">
            <a:avLst/>
          </a:prstGeom>
          <a:noFill/>
        </p:spPr>
        <p:txBody>
          <a:bodyPr wrap="square">
            <a:spAutoFit/>
          </a:bodyPr>
          <a:lstStyle/>
          <a:p>
            <a:pPr algn="l"/>
            <a:r>
              <a:rPr sz="1400" b="0" i="1">
                <a:solidFill>
                  <a:srgbClr val="B8B8B8"/>
                </a:solidFill>
                <a:latin typeface="Calibri"/>
              </a:rPr>
              <a:t>In April we proposed four future improvements. Here's what actually happened:</a:t>
            </a:r>
          </a:p>
        </p:txBody>
      </p:sp>
      <p:graphicFrame>
        <p:nvGraphicFramePr>
          <p:cNvPr id="7" name="Table 6"/>
          <p:cNvGraphicFramePr>
            <a:graphicFrameLocks noGrp="1"/>
          </p:cNvGraphicFramePr>
          <p:nvPr/>
        </p:nvGraphicFramePr>
        <p:xfrm>
          <a:off x="457200" y="1828800"/>
          <a:ext cx="11247120" cy="1920240"/>
        </p:xfrm>
        <a:graphic>
          <a:graphicData uri="http://schemas.openxmlformats.org/drawingml/2006/table">
            <a:tbl>
              <a:tblPr firstRow="1" bandRow="1">
                <a:tableStyleId>{5C22544A-7EE6-4342-B048-85BDC9FD1C3A}</a:tableStyleId>
              </a:tblPr>
              <a:tblGrid>
                <a:gridCol w="5623560"/>
                <a:gridCol w="5623560"/>
              </a:tblGrid>
              <a:tr h="384048">
                <a:tc>
                  <a:txBody>
                    <a:bodyPr lIns="73152" rIns="73152" tIns="36576" bIns="36576"/>
                    <a:lstStyle/>
                    <a:p>
                      <a:r>
                        <a:rPr b="1" sz="1400">
                          <a:solidFill>
                            <a:srgbClr val="F5C84C"/>
                          </a:solidFill>
                          <a:latin typeface="Calibri"/>
                        </a:rPr>
                        <a:t>April pitch direction</a:t>
                      </a:r>
                    </a:p>
                  </a:txBody>
                  <a:tcPr>
                    <a:solidFill>
                      <a:srgbClr val="3A3A40"/>
                    </a:solidFill>
                  </a:tcPr>
                </a:tc>
                <a:tc>
                  <a:txBody>
                    <a:bodyPr lIns="73152" rIns="73152" tIns="36576" bIns="36576"/>
                    <a:lstStyle/>
                    <a:p>
                      <a:r>
                        <a:rPr b="1" sz="1400">
                          <a:solidFill>
                            <a:srgbClr val="F5C84C"/>
                          </a:solidFill>
                          <a:latin typeface="Calibri"/>
                        </a:rPr>
                        <a:t>Outcome</a:t>
                      </a:r>
                    </a:p>
                  </a:txBody>
                  <a:tcPr>
                    <a:solidFill>
                      <a:srgbClr val="3A3A40"/>
                    </a:solidFill>
                  </a:tcPr>
                </a:tc>
              </a:tr>
              <a:tr h="384048">
                <a:tc>
                  <a:txBody>
                    <a:bodyPr lIns="73152" rIns="73152" tIns="36576" bIns="36576"/>
                    <a:lstStyle/>
                    <a:p>
                      <a:r>
                        <a:rPr sz="1400">
                          <a:solidFill>
                            <a:srgbClr val="F2EEE5"/>
                          </a:solidFill>
                          <a:latin typeface="Calibri"/>
                        </a:rPr>
                        <a:t>1. MoE for multi-subject teaching</a:t>
                      </a:r>
                    </a:p>
                  </a:txBody>
                  <a:tcPr>
                    <a:solidFill>
                      <a:srgbClr val="2D2D32"/>
                    </a:solidFill>
                  </a:tcPr>
                </a:tc>
                <a:tc>
                  <a:txBody>
                    <a:bodyPr lIns="73152" rIns="73152" tIns="36576" bIns="36576"/>
                    <a:lstStyle/>
                    <a:p>
                      <a:r>
                        <a:rPr sz="1400" b="0" i="0">
                          <a:solidFill>
                            <a:srgbClr val="E0606B"/>
                          </a:solidFill>
                          <a:latin typeface="Calibri"/>
                        </a:rPr>
                        <a:t>❌  Dropped — no multi-subject corpus available</a:t>
                      </a:r>
                    </a:p>
                  </a:txBody>
                  <a:tcPr>
                    <a:solidFill>
                      <a:srgbClr val="2D2D32"/>
                    </a:solidFill>
                  </a:tcPr>
                </a:tc>
              </a:tr>
              <a:tr h="384048">
                <a:tc>
                  <a:txBody>
                    <a:bodyPr lIns="73152" rIns="73152" tIns="36576" bIns="36576"/>
                    <a:lstStyle/>
                    <a:p>
                      <a:r>
                        <a:rPr sz="1400">
                          <a:solidFill>
                            <a:srgbClr val="F2EEE5"/>
                          </a:solidFill>
                          <a:latin typeface="Calibri"/>
                        </a:rPr>
                        <a:t>2. RL-based stage transitions</a:t>
                      </a:r>
                    </a:p>
                  </a:txBody>
                  <a:tcPr>
                    <a:solidFill>
                      <a:srgbClr val="2D2D32"/>
                    </a:solidFill>
                  </a:tcPr>
                </a:tc>
                <a:tc>
                  <a:txBody>
                    <a:bodyPr lIns="73152" rIns="73152" tIns="36576" bIns="36576"/>
                    <a:lstStyle/>
                    <a:p>
                      <a:r>
                        <a:rPr sz="1400" b="0" i="0">
                          <a:solidFill>
                            <a:srgbClr val="E0606B"/>
                          </a:solidFill>
                          <a:latin typeface="Calibri"/>
                        </a:rPr>
                        <a:t>❌  Dropped — bottleneck wasn't transitions; it was the consultant</a:t>
                      </a:r>
                    </a:p>
                  </a:txBody>
                  <a:tcPr>
                    <a:solidFill>
                      <a:srgbClr val="2D2D32"/>
                    </a:solidFill>
                  </a:tcPr>
                </a:tc>
              </a:tr>
              <a:tr h="384048">
                <a:tc>
                  <a:txBody>
                    <a:bodyPr lIns="73152" rIns="73152" tIns="36576" bIns="36576"/>
                    <a:lstStyle/>
                    <a:p>
                      <a:r>
                        <a:rPr sz="1400" b="1" i="0">
                          <a:solidFill>
                            <a:srgbClr val="F2EEE5"/>
                          </a:solidFill>
                          <a:latin typeface="Calibri"/>
                        </a:rPr>
                        <a:t>3. Learned consultant (discrete classifier replacing LLM)</a:t>
                      </a:r>
                    </a:p>
                  </a:txBody>
                  <a:tcPr>
                    <a:solidFill>
                      <a:srgbClr val="2D2D32"/>
                    </a:solidFill>
                  </a:tcPr>
                </a:tc>
                <a:tc>
                  <a:txBody>
                    <a:bodyPr lIns="73152" rIns="73152" tIns="36576" bIns="36576"/>
                    <a:lstStyle/>
                    <a:p>
                      <a:r>
                        <a:rPr sz="1400" b="1" i="0">
                          <a:solidFill>
                            <a:srgbClr val="6EC47A"/>
                          </a:solidFill>
                          <a:latin typeface="Calibri"/>
                        </a:rPr>
                        <a:t>✅  Shipped — became our locked headline</a:t>
                      </a:r>
                    </a:p>
                  </a:txBody>
                  <a:tcPr>
                    <a:solidFill>
                      <a:srgbClr val="2D2D32"/>
                    </a:solidFill>
                  </a:tcPr>
                </a:tc>
              </a:tr>
              <a:tr h="384048">
                <a:tc>
                  <a:txBody>
                    <a:bodyPr lIns="73152" rIns="73152" tIns="36576" bIns="36576"/>
                    <a:lstStyle/>
                    <a:p>
                      <a:r>
                        <a:rPr sz="1400" b="1" i="0">
                          <a:solidFill>
                            <a:srgbClr val="F2EEE5"/>
                          </a:solidFill>
                          <a:latin typeface="Calibri"/>
                        </a:rPr>
                        <a:t>4. Stronger evaluation (ablation + cross-domain)</a:t>
                      </a:r>
                    </a:p>
                  </a:txBody>
                  <a:tcPr>
                    <a:solidFill>
                      <a:srgbClr val="2D2D32"/>
                    </a:solidFill>
                  </a:tcPr>
                </a:tc>
                <a:tc>
                  <a:txBody>
                    <a:bodyPr lIns="73152" rIns="73152" tIns="36576" bIns="36576"/>
                    <a:lstStyle/>
                    <a:p>
                      <a:r>
                        <a:rPr sz="1400" b="1" i="0">
                          <a:solidFill>
                            <a:srgbClr val="6EC47A"/>
                          </a:solidFill>
                          <a:latin typeface="Calibri"/>
                        </a:rPr>
                        <a:t>✅  Shipped — significantly expanded</a:t>
                      </a:r>
                    </a:p>
                  </a:txBody>
                  <a:tcPr>
                    <a:solidFill>
                      <a:srgbClr val="2D2D32"/>
                    </a:solidFill>
                  </a:tcPr>
                </a:tc>
              </a:tr>
            </a:tbl>
          </a:graphicData>
        </a:graphic>
      </p:graphicFrame>
      <p:sp>
        <p:nvSpPr>
          <p:cNvPr id="8" name="TextBox 7"/>
          <p:cNvSpPr txBox="1"/>
          <p:nvPr/>
        </p:nvSpPr>
        <p:spPr>
          <a:xfrm>
            <a:off x="457200" y="4023360"/>
            <a:ext cx="10972800" cy="365760"/>
          </a:xfrm>
          <a:prstGeom prst="rect">
            <a:avLst/>
          </a:prstGeom>
          <a:noFill/>
        </p:spPr>
        <p:txBody>
          <a:bodyPr wrap="square">
            <a:spAutoFit/>
          </a:bodyPr>
          <a:lstStyle/>
          <a:p>
            <a:pPr algn="l"/>
            <a:r>
              <a:rPr sz="1600" b="1" i="0">
                <a:solidFill>
                  <a:srgbClr val="F5C84C"/>
                </a:solidFill>
                <a:latin typeface="Calibri"/>
              </a:rPr>
              <a:t>Plus three contributions we didn't see coming:</a:t>
            </a:r>
          </a:p>
        </p:txBody>
      </p:sp>
      <p:sp>
        <p:nvSpPr>
          <p:cNvPr id="9" name="Rounded Rectangle 8"/>
          <p:cNvSpPr/>
          <p:nvPr/>
        </p:nvSpPr>
        <p:spPr>
          <a:xfrm>
            <a:off x="457200" y="4526280"/>
            <a:ext cx="3657600" cy="1417320"/>
          </a:xfrm>
          <a:prstGeom prst="roundRect">
            <a:avLst/>
          </a:prstGeom>
          <a:solidFill>
            <a:srgbClr val="3A3A40"/>
          </a:solidFill>
          <a:ln w="12700">
            <a:solidFill>
              <a:srgbClr val="F08A4B"/>
            </a:solidFill>
          </a:ln>
        </p:spPr>
        <p:style>
          <a:lnRef idx="1">
            <a:schemeClr val="accent1"/>
          </a:lnRef>
          <a:fillRef idx="3">
            <a:schemeClr val="accent1"/>
          </a:fillRef>
          <a:effectRef idx="2">
            <a:schemeClr val="accent1"/>
          </a:effectRef>
          <a:fontRef idx="minor">
            <a:schemeClr val="lt1"/>
          </a:fontRef>
        </p:style>
        <p:txBody>
          <a:bodyPr rtlCol="0" anchor="ctr" lIns="137160" rIns="137160" tIns="109728" bIns="109728"/>
          <a:lstStyle/>
          <a:p>
            <a:pPr algn="ctr"/>
            <a:r>
              <a:rPr b="1" sz="1500">
                <a:solidFill>
                  <a:srgbClr val="F5C84C"/>
                </a:solidFill>
                <a:latin typeface="Calibri"/>
              </a:rPr>
              <a:t>🔍  Methodological critique</a:t>
            </a:r>
          </a:p>
          <a:p>
            <a:pPr>
              <a:spcBef>
                <a:spcPts val="600"/>
              </a:spcBef>
            </a:pPr>
            <a:r>
              <a:rPr sz="1200">
                <a:solidFill>
                  <a:srgbClr val="F2EEE5"/>
                </a:solidFill>
                <a:latin typeface="Calibri"/>
              </a:rPr>
              <a:t>ROUGE/BLEU invert the true ranking (slide 4)</a:t>
            </a:r>
          </a:p>
        </p:txBody>
      </p:sp>
      <p:sp>
        <p:nvSpPr>
          <p:cNvPr id="10" name="Rounded Rectangle 9"/>
          <p:cNvSpPr/>
          <p:nvPr/>
        </p:nvSpPr>
        <p:spPr>
          <a:xfrm>
            <a:off x="4251960" y="4526280"/>
            <a:ext cx="3657600" cy="1417320"/>
          </a:xfrm>
          <a:prstGeom prst="roundRect">
            <a:avLst/>
          </a:prstGeom>
          <a:solidFill>
            <a:srgbClr val="3A3A40"/>
          </a:solidFill>
          <a:ln w="12700">
            <a:solidFill>
              <a:srgbClr val="F08A4B"/>
            </a:solidFill>
          </a:ln>
        </p:spPr>
        <p:style>
          <a:lnRef idx="1">
            <a:schemeClr val="accent1"/>
          </a:lnRef>
          <a:fillRef idx="3">
            <a:schemeClr val="accent1"/>
          </a:fillRef>
          <a:effectRef idx="2">
            <a:schemeClr val="accent1"/>
          </a:effectRef>
          <a:fontRef idx="minor">
            <a:schemeClr val="lt1"/>
          </a:fontRef>
        </p:style>
        <p:txBody>
          <a:bodyPr rtlCol="0" anchor="ctr" lIns="137160" rIns="137160" tIns="109728" bIns="109728"/>
          <a:lstStyle/>
          <a:p>
            <a:pPr algn="ctr"/>
            <a:r>
              <a:rPr b="1" sz="1500">
                <a:solidFill>
                  <a:srgbClr val="F5C84C"/>
                </a:solidFill>
                <a:latin typeface="Calibri"/>
              </a:rPr>
              <a:t>📐  Unified score</a:t>
            </a:r>
          </a:p>
          <a:p>
            <a:pPr>
              <a:spcBef>
                <a:spcPts val="600"/>
              </a:spcBef>
            </a:pPr>
            <a:r>
              <a:rPr sz="1200">
                <a:solidFill>
                  <a:srgbClr val="F2EEE5"/>
                </a:solidFill>
                <a:latin typeface="Calibri"/>
              </a:rPr>
              <a:t>memorization-resistant ranking (slide 5)</a:t>
            </a:r>
          </a:p>
        </p:txBody>
      </p:sp>
      <p:sp>
        <p:nvSpPr>
          <p:cNvPr id="11" name="Rounded Rectangle 10"/>
          <p:cNvSpPr/>
          <p:nvPr/>
        </p:nvSpPr>
        <p:spPr>
          <a:xfrm>
            <a:off x="8046720" y="4526280"/>
            <a:ext cx="3657600" cy="1417320"/>
          </a:xfrm>
          <a:prstGeom prst="roundRect">
            <a:avLst/>
          </a:prstGeom>
          <a:solidFill>
            <a:srgbClr val="3A3A40"/>
          </a:solidFill>
          <a:ln w="12700">
            <a:solidFill>
              <a:srgbClr val="F08A4B"/>
            </a:solidFill>
          </a:ln>
        </p:spPr>
        <p:style>
          <a:lnRef idx="1">
            <a:schemeClr val="accent1"/>
          </a:lnRef>
          <a:fillRef idx="3">
            <a:schemeClr val="accent1"/>
          </a:fillRef>
          <a:effectRef idx="2">
            <a:schemeClr val="accent1"/>
          </a:effectRef>
          <a:fontRef idx="minor">
            <a:schemeClr val="lt1"/>
          </a:fontRef>
        </p:style>
        <p:txBody>
          <a:bodyPr rtlCol="0" anchor="ctr" lIns="137160" rIns="137160" tIns="109728" bIns="109728"/>
          <a:lstStyle/>
          <a:p>
            <a:pPr algn="ctr"/>
            <a:r>
              <a:rPr b="1" sz="1500">
                <a:solidFill>
                  <a:srgbClr val="F5C84C"/>
                </a:solidFill>
                <a:latin typeface="Calibri"/>
              </a:rPr>
              <a:t>🌐  SocratDataset-EN</a:t>
            </a:r>
          </a:p>
          <a:p>
            <a:pPr>
              <a:spcBef>
                <a:spcPts val="600"/>
              </a:spcBef>
            </a:pPr>
            <a:r>
              <a:rPr sz="1200">
                <a:solidFill>
                  <a:srgbClr val="F2EEE5"/>
                </a:solidFill>
                <a:latin typeface="Calibri"/>
              </a:rPr>
              <a:t>full English translation + cross-lingual transfer (slide 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D2D32"/>
        </a:solidFill>
        <a:effectLst/>
      </p:bgPr>
    </p:bg>
    <p:spTree>
      <p:nvGrpSpPr>
        <p:cNvPr id="1" name=""/>
        <p:cNvGrpSpPr/>
        <p:nvPr/>
      </p:nvGrpSpPr>
      <p:grpSpPr/>
      <p:sp>
        <p:nvSpPr>
          <p:cNvPr id="2" name="TextBox 1"/>
          <p:cNvSpPr txBox="1"/>
          <p:nvPr/>
        </p:nvSpPr>
        <p:spPr>
          <a:xfrm>
            <a:off x="457200" y="320040"/>
            <a:ext cx="10972800" cy="731520"/>
          </a:xfrm>
          <a:prstGeom prst="rect">
            <a:avLst/>
          </a:prstGeom>
          <a:noFill/>
        </p:spPr>
        <p:txBody>
          <a:bodyPr wrap="square">
            <a:spAutoFit/>
          </a:bodyPr>
          <a:lstStyle/>
          <a:p>
            <a:pPr algn="l"/>
            <a:r>
              <a:rPr sz="3200" b="1" i="0">
                <a:solidFill>
                  <a:srgbClr val="F5C84C"/>
                </a:solidFill>
                <a:latin typeface="Calibri"/>
              </a:rPr>
              <a:t>The Benchmark Inversion</a:t>
            </a:r>
          </a:p>
        </p:txBody>
      </p:sp>
      <p:sp>
        <p:nvSpPr>
          <p:cNvPr id="3" name="Rectangle 2"/>
          <p:cNvSpPr/>
          <p:nvPr/>
        </p:nvSpPr>
        <p:spPr>
          <a:xfrm>
            <a:off x="457200" y="960120"/>
            <a:ext cx="1097280" cy="45720"/>
          </a:xfrm>
          <a:prstGeom prst="rect">
            <a:avLst/>
          </a:prstGeom>
          <a:solidFill>
            <a:srgbClr val="F5C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78992"/>
            <a:ext cx="7315200" cy="274320"/>
          </a:xfrm>
          <a:prstGeom prst="rect">
            <a:avLst/>
          </a:prstGeom>
          <a:noFill/>
        </p:spPr>
        <p:txBody>
          <a:bodyPr wrap="square">
            <a:spAutoFit/>
          </a:bodyPr>
          <a:lstStyle/>
          <a:p>
            <a:pPr algn="l"/>
            <a:r>
              <a:rPr sz="1200" b="0" i="0">
                <a:solidFill>
                  <a:srgbClr val="B8B8B8"/>
                </a:solidFill>
                <a:latin typeface="Calibri"/>
              </a:rPr>
              <a:t>Ulises · ~90 s</a:t>
            </a:r>
          </a:p>
        </p:txBody>
      </p:sp>
      <p:sp>
        <p:nvSpPr>
          <p:cNvPr id="5" name="TextBox 4"/>
          <p:cNvSpPr txBox="1"/>
          <p:nvPr/>
        </p:nvSpPr>
        <p:spPr>
          <a:xfrm>
            <a:off x="365760" y="6446520"/>
            <a:ext cx="10972800" cy="274320"/>
          </a:xfrm>
          <a:prstGeom prst="rect">
            <a:avLst/>
          </a:prstGeom>
          <a:noFill/>
        </p:spPr>
        <p:txBody>
          <a:bodyPr wrap="square">
            <a:spAutoFit/>
          </a:bodyPr>
          <a:lstStyle/>
          <a:p>
            <a:pPr algn="l"/>
            <a:r>
              <a:rPr sz="1000" b="0" i="0">
                <a:solidFill>
                  <a:srgbClr val="B8B8B8"/>
                </a:solidFill>
                <a:latin typeface="Calibri"/>
              </a:rPr>
              <a:t>CSEN 346 · Natural Language Processing · Cyberdyne · May 26, 2026</a:t>
            </a:r>
          </a:p>
        </p:txBody>
      </p:sp>
      <p:sp>
        <p:nvSpPr>
          <p:cNvPr id="6" name="TextBox 5"/>
          <p:cNvSpPr txBox="1"/>
          <p:nvPr/>
        </p:nvSpPr>
        <p:spPr>
          <a:xfrm>
            <a:off x="457200" y="1417320"/>
            <a:ext cx="11430000" cy="457200"/>
          </a:xfrm>
          <a:prstGeom prst="rect">
            <a:avLst/>
          </a:prstGeom>
          <a:noFill/>
        </p:spPr>
        <p:txBody>
          <a:bodyPr wrap="square">
            <a:spAutoFit/>
          </a:bodyPr>
          <a:lstStyle/>
          <a:p>
            <a:pPr algn="l"/>
            <a:r>
              <a:rPr sz="1300" b="0" i="1">
                <a:solidFill>
                  <a:srgbClr val="B8B8B8"/>
                </a:solidFill>
                <a:latin typeface="Calibri"/>
              </a:rPr>
              <a:t>Recall (April pitch): the paper reports STL beats GPT-4o on all 13 metrics — 4 token-overlap + 4 rule-compliance + 5 LLM-judge rubric.</a:t>
            </a:r>
          </a:p>
        </p:txBody>
      </p:sp>
      <p:sp>
        <p:nvSpPr>
          <p:cNvPr id="7" name="TextBox 6"/>
          <p:cNvSpPr txBox="1"/>
          <p:nvPr/>
        </p:nvSpPr>
        <p:spPr>
          <a:xfrm>
            <a:off x="457200" y="1828800"/>
            <a:ext cx="11430000" cy="365760"/>
          </a:xfrm>
          <a:prstGeom prst="rect">
            <a:avLst/>
          </a:prstGeom>
          <a:noFill/>
        </p:spPr>
        <p:txBody>
          <a:bodyPr wrap="square">
            <a:spAutoFit/>
          </a:bodyPr>
          <a:lstStyle/>
          <a:p>
            <a:pPr algn="l"/>
            <a:r>
              <a:rPr sz="1500" b="1" i="0">
                <a:solidFill>
                  <a:srgbClr val="F2EEE5"/>
                </a:solidFill>
                <a:latin typeface="Calibri"/>
              </a:rPr>
              <a:t>On the 4 token-overlap metrics, the ranking inverts under a memorization-resistant evaluation.</a:t>
            </a:r>
          </a:p>
        </p:txBody>
      </p:sp>
      <p:graphicFrame>
        <p:nvGraphicFramePr>
          <p:cNvPr id="8" name="Table 7"/>
          <p:cNvGraphicFramePr>
            <a:graphicFrameLocks noGrp="1"/>
          </p:cNvGraphicFramePr>
          <p:nvPr/>
        </p:nvGraphicFramePr>
        <p:xfrm>
          <a:off x="457200" y="2331720"/>
          <a:ext cx="11247120" cy="1463040"/>
        </p:xfrm>
        <a:graphic>
          <a:graphicData uri="http://schemas.openxmlformats.org/drawingml/2006/table">
            <a:tbl>
              <a:tblPr firstRow="1" bandRow="1">
                <a:tableStyleId>{5C22544A-7EE6-4342-B048-85BDC9FD1C3A}</a:tableStyleId>
              </a:tblPr>
              <a:tblGrid>
                <a:gridCol w="3749040"/>
                <a:gridCol w="3749040"/>
                <a:gridCol w="3749040"/>
              </a:tblGrid>
              <a:tr h="365760">
                <a:tc>
                  <a:txBody>
                    <a:bodyPr lIns="73152" rIns="73152" tIns="36576" bIns="36576"/>
                    <a:lstStyle/>
                    <a:p>
                      <a:r>
                        <a:rPr b="1" sz="1400">
                          <a:solidFill>
                            <a:srgbClr val="F5C84C"/>
                          </a:solidFill>
                          <a:latin typeface="Calibri"/>
                        </a:rPr>
                        <a:t/>
                      </a:r>
                    </a:p>
                  </a:txBody>
                  <a:tcPr>
                    <a:solidFill>
                      <a:srgbClr val="3A3A40"/>
                    </a:solidFill>
                  </a:tcPr>
                </a:tc>
                <a:tc>
                  <a:txBody>
                    <a:bodyPr lIns="73152" rIns="73152" tIns="36576" bIns="36576"/>
                    <a:lstStyle/>
                    <a:p>
                      <a:r>
                        <a:rPr b="1" sz="1400">
                          <a:solidFill>
                            <a:srgbClr val="F5C84C"/>
                          </a:solidFill>
                          <a:latin typeface="Calibri"/>
                        </a:rPr>
                        <a:t>Paper's ROUGE/BLEU ranking</a:t>
                      </a:r>
                    </a:p>
                  </a:txBody>
                  <a:tcPr>
                    <a:solidFill>
                      <a:srgbClr val="3A3A40"/>
                    </a:solidFill>
                  </a:tcPr>
                </a:tc>
                <a:tc>
                  <a:txBody>
                    <a:bodyPr lIns="73152" rIns="73152" tIns="36576" bIns="36576"/>
                    <a:lstStyle/>
                    <a:p>
                      <a:r>
                        <a:rPr b="1" sz="1400">
                          <a:solidFill>
                            <a:srgbClr val="F5C84C"/>
                          </a:solidFill>
                          <a:latin typeface="Calibri"/>
                        </a:rPr>
                        <a:t>Our unified ranking (pedagogical)</a:t>
                      </a:r>
                    </a:p>
                  </a:txBody>
                  <a:tcPr>
                    <a:solidFill>
                      <a:srgbClr val="3A3A40"/>
                    </a:solidFill>
                  </a:tcPr>
                </a:tc>
              </a:tr>
              <a:tr h="365760">
                <a:tc>
                  <a:txBody>
                    <a:bodyPr lIns="73152" rIns="73152" tIns="36576" bIns="36576"/>
                    <a:lstStyle/>
                    <a:p>
                      <a:r>
                        <a:rPr sz="1400">
                          <a:solidFill>
                            <a:srgbClr val="F2EEE5"/>
                          </a:solidFill>
                          <a:latin typeface="Calibri"/>
                        </a:rPr>
                        <a:t>🥇 #1</a:t>
                      </a:r>
                    </a:p>
                  </a:txBody>
                  <a:tcPr>
                    <a:solidFill>
                      <a:srgbClr val="2D2D32"/>
                    </a:solidFill>
                  </a:tcPr>
                </a:tc>
                <a:tc>
                  <a:txBody>
                    <a:bodyPr lIns="73152" rIns="73152" tIns="36576" bIns="36576"/>
                    <a:lstStyle/>
                    <a:p>
                      <a:r>
                        <a:rPr sz="1400">
                          <a:solidFill>
                            <a:srgbClr val="F2EEE5"/>
                          </a:solidFill>
                          <a:latin typeface="Calibri"/>
                        </a:rPr>
                        <a:t>GPT-4o + SocratTeachLLM</a:t>
                      </a:r>
                    </a:p>
                  </a:txBody>
                  <a:tcPr>
                    <a:solidFill>
                      <a:srgbClr val="2D2D32"/>
                    </a:solidFill>
                  </a:tcPr>
                </a:tc>
                <a:tc>
                  <a:txBody>
                    <a:bodyPr lIns="73152" rIns="73152" tIns="36576" bIns="36576"/>
                    <a:lstStyle/>
                    <a:p>
                      <a:r>
                        <a:rPr sz="1400" b="1" i="0">
                          <a:solidFill>
                            <a:srgbClr val="6EC47A"/>
                          </a:solidFill>
                          <a:latin typeface="Calibri"/>
                        </a:rPr>
                        <a:t>Gemma 31B + BERT (ours)</a:t>
                      </a:r>
                    </a:p>
                  </a:txBody>
                  <a:tcPr>
                    <a:solidFill>
                      <a:srgbClr val="2D2D32"/>
                    </a:solidFill>
                  </a:tcPr>
                </a:tc>
              </a:tr>
              <a:tr h="365760">
                <a:tc>
                  <a:txBody>
                    <a:bodyPr lIns="73152" rIns="73152" tIns="36576" bIns="36576"/>
                    <a:lstStyle/>
                    <a:p>
                      <a:r>
                        <a:rPr sz="1400">
                          <a:solidFill>
                            <a:srgbClr val="F2EEE5"/>
                          </a:solidFill>
                          <a:latin typeface="Calibri"/>
                        </a:rPr>
                        <a:t>🥈 #2</a:t>
                      </a:r>
                    </a:p>
                  </a:txBody>
                  <a:tcPr>
                    <a:solidFill>
                      <a:srgbClr val="2D2D32"/>
                    </a:solidFill>
                  </a:tcPr>
                </a:tc>
                <a:tc>
                  <a:txBody>
                    <a:bodyPr lIns="73152" rIns="73152" tIns="36576" bIns="36576"/>
                    <a:lstStyle/>
                    <a:p>
                      <a:r>
                        <a:rPr sz="1400">
                          <a:solidFill>
                            <a:srgbClr val="F2EEE5"/>
                          </a:solidFill>
                          <a:latin typeface="Calibri"/>
                        </a:rPr>
                        <a:t>Claude Opus + BERT</a:t>
                      </a:r>
                    </a:p>
                  </a:txBody>
                  <a:tcPr>
                    <a:solidFill>
                      <a:srgbClr val="2D2D32"/>
                    </a:solidFill>
                  </a:tcPr>
                </a:tc>
                <a:tc>
                  <a:txBody>
                    <a:bodyPr lIns="73152" rIns="73152" tIns="36576" bIns="36576"/>
                    <a:lstStyle/>
                    <a:p>
                      <a:r>
                        <a:rPr sz="1400">
                          <a:solidFill>
                            <a:srgbClr val="F2EEE5"/>
                          </a:solidFill>
                          <a:latin typeface="Calibri"/>
                        </a:rPr>
                        <a:t>Claude Sonnet + BERT</a:t>
                      </a:r>
                    </a:p>
                  </a:txBody>
                  <a:tcPr>
                    <a:solidFill>
                      <a:srgbClr val="2D2D32"/>
                    </a:solidFill>
                  </a:tcPr>
                </a:tc>
              </a:tr>
              <a:tr h="365760">
                <a:tc>
                  <a:txBody>
                    <a:bodyPr lIns="73152" rIns="73152" tIns="36576" bIns="36576"/>
                    <a:lstStyle/>
                    <a:p>
                      <a:r>
                        <a:rPr sz="1400">
                          <a:solidFill>
                            <a:srgbClr val="F2EEE5"/>
                          </a:solidFill>
                          <a:latin typeface="Calibri"/>
                        </a:rPr>
                        <a:t>🚨 Last</a:t>
                      </a:r>
                    </a:p>
                  </a:txBody>
                  <a:tcPr>
                    <a:solidFill>
                      <a:srgbClr val="2D2D32"/>
                    </a:solidFill>
                  </a:tcPr>
                </a:tc>
                <a:tc>
                  <a:txBody>
                    <a:bodyPr lIns="73152" rIns="73152" tIns="36576" bIns="36576"/>
                    <a:lstStyle/>
                    <a:p>
                      <a:r>
                        <a:rPr sz="1400">
                          <a:solidFill>
                            <a:srgbClr val="F2EEE5"/>
                          </a:solidFill>
                          <a:latin typeface="Calibri"/>
                        </a:rPr>
                        <a:t>Claude Opus (raw)</a:t>
                      </a:r>
                    </a:p>
                  </a:txBody>
                  <a:tcPr>
                    <a:solidFill>
                      <a:srgbClr val="2D2D32"/>
                    </a:solidFill>
                  </a:tcPr>
                </a:tc>
                <a:tc>
                  <a:txBody>
                    <a:bodyPr lIns="73152" rIns="73152" tIns="36576" bIns="36576"/>
                    <a:lstStyle/>
                    <a:p>
                      <a:r>
                        <a:rPr sz="1400" b="1" i="0">
                          <a:solidFill>
                            <a:srgbClr val="E0606B"/>
                          </a:solidFill>
                          <a:latin typeface="Calibri"/>
                        </a:rPr>
                        <a:t>GPT-4o + SocratTeachLLM</a:t>
                      </a:r>
                    </a:p>
                  </a:txBody>
                  <a:tcPr>
                    <a:solidFill>
                      <a:srgbClr val="2D2D32"/>
                    </a:solidFill>
                  </a:tcPr>
                </a:tc>
              </a:tr>
            </a:tbl>
          </a:graphicData>
        </a:graphic>
      </p:graphicFrame>
      <p:sp>
        <p:nvSpPr>
          <p:cNvPr id="9" name="TextBox 8"/>
          <p:cNvSpPr txBox="1"/>
          <p:nvPr/>
        </p:nvSpPr>
        <p:spPr>
          <a:xfrm>
            <a:off x="457200" y="4069080"/>
            <a:ext cx="10972800" cy="365760"/>
          </a:xfrm>
          <a:prstGeom prst="rect">
            <a:avLst/>
          </a:prstGeom>
          <a:noFill/>
        </p:spPr>
        <p:txBody>
          <a:bodyPr wrap="square">
            <a:spAutoFit/>
          </a:bodyPr>
          <a:lstStyle/>
          <a:p>
            <a:pPr algn="l"/>
            <a:r>
              <a:rPr sz="1500" b="1" i="0">
                <a:solidFill>
                  <a:srgbClr val="F5C84C"/>
                </a:solidFill>
                <a:latin typeface="Calibri"/>
              </a:rPr>
              <a:t>Why the surface metrics mislead:</a:t>
            </a:r>
          </a:p>
        </p:txBody>
      </p:sp>
      <p:sp>
        <p:nvSpPr>
          <p:cNvPr id="10" name="TextBox 9"/>
          <p:cNvSpPr txBox="1"/>
          <p:nvPr/>
        </p:nvSpPr>
        <p:spPr>
          <a:xfrm>
            <a:off x="457200" y="4480560"/>
            <a:ext cx="11430000" cy="1737360"/>
          </a:xfrm>
          <a:prstGeom prst="rect">
            <a:avLst/>
          </a:prstGeom>
          <a:noFill/>
        </p:spPr>
        <p:txBody>
          <a:bodyPr wrap="square">
            <a:spAutoFit/>
          </a:bodyPr>
          <a:lstStyle/>
          <a:p>
            <a:pPr algn="l">
              <a:lnSpc>
                <a:spcPct val="115000"/>
              </a:lnSpc>
              <a:spcAft>
                <a:spcPts val="400"/>
              </a:spcAft>
            </a:pPr>
            <a:r>
              <a:rPr sz="1600" b="1">
                <a:solidFill>
                  <a:srgbClr val="F5C84C"/>
                </a:solidFill>
                <a:latin typeface="Calibri"/>
              </a:rPr>
              <a:t>• </a:t>
            </a:r>
            <a:r>
              <a:rPr sz="1300" b="0" i="0">
                <a:solidFill>
                  <a:srgbClr val="F2EEE5"/>
                </a:solidFill>
                <a:latin typeface="Calibri"/>
              </a:rPr>
              <a:t>ROUGE/BLEU reward n-gram overlap with the reference → reward mimicry of training data</a:t>
            </a:r>
          </a:p>
          <a:p>
            <a:pPr algn="l">
              <a:lnSpc>
                <a:spcPct val="115000"/>
              </a:lnSpc>
              <a:spcAft>
                <a:spcPts val="400"/>
              </a:spcAft>
            </a:pPr>
            <a:r>
              <a:rPr sz="1600" b="1">
                <a:solidFill>
                  <a:srgbClr val="F5C84C"/>
                </a:solidFill>
                <a:latin typeface="Calibri"/>
              </a:rPr>
              <a:t>• </a:t>
            </a:r>
            <a:r>
              <a:rPr sz="1300" b="0" i="0">
                <a:solidFill>
                  <a:srgbClr val="F2EEE5"/>
                </a:solidFill>
                <a:latin typeface="Calibri"/>
              </a:rPr>
              <a:t>SocratTeachLLM was fine-tuned on 90% of the dataset (paper §4.3) — and the train/test split was never released</a:t>
            </a:r>
          </a:p>
          <a:p>
            <a:pPr algn="l">
              <a:lnSpc>
                <a:spcPct val="115000"/>
              </a:lnSpc>
              <a:spcAft>
                <a:spcPts val="400"/>
              </a:spcAft>
            </a:pPr>
            <a:r>
              <a:rPr sz="1600" b="1">
                <a:solidFill>
                  <a:srgbClr val="F5C84C"/>
                </a:solidFill>
                <a:latin typeface="Calibri"/>
              </a:rPr>
              <a:t>• </a:t>
            </a:r>
            <a:r>
              <a:rPr sz="1300" b="0" i="0">
                <a:solidFill>
                  <a:srgbClr val="F08A4B"/>
                </a:solidFill>
                <a:latin typeface="Calibri"/>
              </a:rPr>
              <a:t>Fingerprint: gap to STL widens with n-gram order — ROUGE-1 Δ=+1.59 → ROUGE-2 Δ=+4.92 → BLEU-4 Δ=+4.07. Memorization compounds.</a:t>
            </a:r>
          </a:p>
          <a:p>
            <a:pPr algn="l">
              <a:lnSpc>
                <a:spcPct val="115000"/>
              </a:lnSpc>
              <a:spcAft>
                <a:spcPts val="400"/>
              </a:spcAft>
            </a:pPr>
            <a:r>
              <a:rPr sz="1600" b="1">
                <a:solidFill>
                  <a:srgbClr val="F5C84C"/>
                </a:solidFill>
                <a:latin typeface="Calibri"/>
              </a:rPr>
              <a:t>• </a:t>
            </a:r>
            <a:r>
              <a:rPr sz="1300" b="0" i="1">
                <a:solidFill>
                  <a:srgbClr val="B8B8B8"/>
                </a:solidFill>
                <a:latin typeface="Calibri"/>
              </a:rPr>
              <a:t>(The other 9 metrics — slide 7 contamination evidence implicates them too.)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D2D32"/>
        </a:solidFill>
        <a:effectLst/>
      </p:bgPr>
    </p:bg>
    <p:spTree>
      <p:nvGrpSpPr>
        <p:cNvPr id="1" name=""/>
        <p:cNvGrpSpPr/>
        <p:nvPr/>
      </p:nvGrpSpPr>
      <p:grpSpPr/>
      <p:sp>
        <p:nvSpPr>
          <p:cNvPr id="2" name="TextBox 1"/>
          <p:cNvSpPr txBox="1"/>
          <p:nvPr/>
        </p:nvSpPr>
        <p:spPr>
          <a:xfrm>
            <a:off x="457200" y="320040"/>
            <a:ext cx="10972800" cy="731520"/>
          </a:xfrm>
          <a:prstGeom prst="rect">
            <a:avLst/>
          </a:prstGeom>
          <a:noFill/>
        </p:spPr>
        <p:txBody>
          <a:bodyPr wrap="square">
            <a:spAutoFit/>
          </a:bodyPr>
          <a:lstStyle/>
          <a:p>
            <a:pPr algn="l"/>
            <a:r>
              <a:rPr sz="3200" b="1" i="0">
                <a:solidFill>
                  <a:srgbClr val="F5C84C"/>
                </a:solidFill>
                <a:latin typeface="Calibri"/>
              </a:rPr>
              <a:t>BERT Consultant + Unified Metric</a:t>
            </a:r>
          </a:p>
        </p:txBody>
      </p:sp>
      <p:sp>
        <p:nvSpPr>
          <p:cNvPr id="3" name="Rectangle 2"/>
          <p:cNvSpPr/>
          <p:nvPr/>
        </p:nvSpPr>
        <p:spPr>
          <a:xfrm>
            <a:off x="457200" y="960120"/>
            <a:ext cx="1097280" cy="45720"/>
          </a:xfrm>
          <a:prstGeom prst="rect">
            <a:avLst/>
          </a:prstGeom>
          <a:solidFill>
            <a:srgbClr val="F5C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78992"/>
            <a:ext cx="7315200" cy="274320"/>
          </a:xfrm>
          <a:prstGeom prst="rect">
            <a:avLst/>
          </a:prstGeom>
          <a:noFill/>
        </p:spPr>
        <p:txBody>
          <a:bodyPr wrap="square">
            <a:spAutoFit/>
          </a:bodyPr>
          <a:lstStyle/>
          <a:p>
            <a:pPr algn="l"/>
            <a:r>
              <a:rPr sz="1200" b="0" i="0">
                <a:solidFill>
                  <a:srgbClr val="B8B8B8"/>
                </a:solidFill>
                <a:latin typeface="Calibri"/>
              </a:rPr>
              <a:t>Max · ~90 s · shipping pitch direction #3 (Learned Consultant)</a:t>
            </a:r>
          </a:p>
        </p:txBody>
      </p:sp>
      <p:sp>
        <p:nvSpPr>
          <p:cNvPr id="5" name="TextBox 4"/>
          <p:cNvSpPr txBox="1"/>
          <p:nvPr/>
        </p:nvSpPr>
        <p:spPr>
          <a:xfrm>
            <a:off x="365760" y="6446520"/>
            <a:ext cx="10972800" cy="274320"/>
          </a:xfrm>
          <a:prstGeom prst="rect">
            <a:avLst/>
          </a:prstGeom>
          <a:noFill/>
        </p:spPr>
        <p:txBody>
          <a:bodyPr wrap="square">
            <a:spAutoFit/>
          </a:bodyPr>
          <a:lstStyle/>
          <a:p>
            <a:pPr algn="l"/>
            <a:r>
              <a:rPr sz="1000" b="0" i="0">
                <a:solidFill>
                  <a:srgbClr val="B8B8B8"/>
                </a:solidFill>
                <a:latin typeface="Calibri"/>
              </a:rPr>
              <a:t>CSEN 346 · Natural Language Processing · Cyberdyne · May 26, 2026</a:t>
            </a:r>
          </a:p>
        </p:txBody>
      </p:sp>
      <p:sp>
        <p:nvSpPr>
          <p:cNvPr id="6" name="TextBox 5"/>
          <p:cNvSpPr txBox="1"/>
          <p:nvPr/>
        </p:nvSpPr>
        <p:spPr>
          <a:xfrm>
            <a:off x="457200" y="1417320"/>
            <a:ext cx="11430000" cy="365760"/>
          </a:xfrm>
          <a:prstGeom prst="rect">
            <a:avLst/>
          </a:prstGeom>
          <a:noFill/>
        </p:spPr>
        <p:txBody>
          <a:bodyPr wrap="square">
            <a:spAutoFit/>
          </a:bodyPr>
          <a:lstStyle/>
          <a:p>
            <a:pPr algn="l"/>
            <a:r>
              <a:rPr sz="1700" b="1" i="0">
                <a:solidFill>
                  <a:srgbClr val="F5C84C"/>
                </a:solidFill>
                <a:latin typeface="Calibri"/>
              </a:rPr>
              <a:t>1. Consultant swap — GPT-4o → fine-tuned bge-small-zh (24M params)</a:t>
            </a:r>
          </a:p>
        </p:txBody>
      </p:sp>
      <p:sp>
        <p:nvSpPr>
          <p:cNvPr id="7" name="TextBox 6"/>
          <p:cNvSpPr txBox="1"/>
          <p:nvPr/>
        </p:nvSpPr>
        <p:spPr>
          <a:xfrm>
            <a:off x="457200" y="1828800"/>
            <a:ext cx="5943600" cy="822960"/>
          </a:xfrm>
          <a:prstGeom prst="rect">
            <a:avLst/>
          </a:prstGeom>
          <a:noFill/>
        </p:spPr>
        <p:txBody>
          <a:bodyPr wrap="square">
            <a:spAutoFit/>
          </a:bodyPr>
          <a:lstStyle/>
          <a:p>
            <a:pPr algn="l">
              <a:lnSpc>
                <a:spcPct val="115000"/>
              </a:lnSpc>
              <a:spcAft>
                <a:spcPts val="400"/>
              </a:spcAft>
            </a:pPr>
            <a:r>
              <a:rPr sz="1600" b="1">
                <a:solidFill>
                  <a:srgbClr val="F5C84C"/>
                </a:solidFill>
                <a:latin typeface="Calibri"/>
              </a:rPr>
              <a:t>• </a:t>
            </a:r>
            <a:r>
              <a:rPr sz="1300" b="0" i="0">
                <a:solidFill>
                  <a:srgbClr val="F2EEE5"/>
                </a:solidFill>
                <a:latin typeface="Calibri"/>
              </a:rPr>
              <a:t>Frozen base + 5-way + 34-way classification heads</a:t>
            </a:r>
          </a:p>
          <a:p>
            <a:pPr algn="l">
              <a:lnSpc>
                <a:spcPct val="115000"/>
              </a:lnSpc>
              <a:spcAft>
                <a:spcPts val="400"/>
              </a:spcAft>
            </a:pPr>
            <a:r>
              <a:rPr sz="1600" b="1">
                <a:solidFill>
                  <a:srgbClr val="F5C84C"/>
                </a:solidFill>
                <a:latin typeface="Calibri"/>
              </a:rPr>
              <a:t>• </a:t>
            </a:r>
            <a:r>
              <a:rPr sz="1300" b="0" i="0">
                <a:solidFill>
                  <a:srgbClr val="F2EEE5"/>
                </a:solidFill>
                <a:latin typeface="Calibri"/>
              </a:rPr>
              <a:t>Matches or exceeds GPT-4o on state routing — at $0 per inference</a:t>
            </a:r>
          </a:p>
        </p:txBody>
      </p:sp>
      <p:graphicFrame>
        <p:nvGraphicFramePr>
          <p:cNvPr id="8" name="Table 7"/>
          <p:cNvGraphicFramePr>
            <a:graphicFrameLocks noGrp="1"/>
          </p:cNvGraphicFramePr>
          <p:nvPr/>
        </p:nvGraphicFramePr>
        <p:xfrm>
          <a:off x="457200" y="2743200"/>
          <a:ext cx="6858000" cy="1280160"/>
        </p:xfrm>
        <a:graphic>
          <a:graphicData uri="http://schemas.openxmlformats.org/drawingml/2006/table">
            <a:tbl>
              <a:tblPr firstRow="1" bandRow="1">
                <a:tableStyleId>{5C22544A-7EE6-4342-B048-85BDC9FD1C3A}</a:tableStyleId>
              </a:tblPr>
              <a:tblGrid>
                <a:gridCol w="1714500"/>
                <a:gridCol w="1714500"/>
                <a:gridCol w="1714500"/>
                <a:gridCol w="1714500"/>
              </a:tblGrid>
              <a:tr h="320040">
                <a:tc>
                  <a:txBody>
                    <a:bodyPr lIns="73152" rIns="73152" tIns="36576" bIns="36576"/>
                    <a:lstStyle/>
                    <a:p>
                      <a:r>
                        <a:rPr b="1" sz="1200">
                          <a:solidFill>
                            <a:srgbClr val="F5C84C"/>
                          </a:solidFill>
                          <a:latin typeface="Calibri"/>
                        </a:rPr>
                        <a:t>Consultant</a:t>
                      </a:r>
                    </a:p>
                  </a:txBody>
                  <a:tcPr>
                    <a:solidFill>
                      <a:srgbClr val="3A3A40"/>
                    </a:solidFill>
                  </a:tcPr>
                </a:tc>
                <a:tc>
                  <a:txBody>
                    <a:bodyPr lIns="73152" rIns="73152" tIns="36576" bIns="36576"/>
                    <a:lstStyle/>
                    <a:p>
                      <a:r>
                        <a:rPr b="1" sz="1200">
                          <a:solidFill>
                            <a:srgbClr val="F5C84C"/>
                          </a:solidFill>
                          <a:latin typeface="Calibri"/>
                        </a:rPr>
                        <a:t>Teacher</a:t>
                      </a:r>
                    </a:p>
                  </a:txBody>
                  <a:tcPr>
                    <a:solidFill>
                      <a:srgbClr val="3A3A40"/>
                    </a:solidFill>
                  </a:tcPr>
                </a:tc>
                <a:tc>
                  <a:txBody>
                    <a:bodyPr lIns="73152" rIns="73152" tIns="36576" bIns="36576"/>
                    <a:lstStyle/>
                    <a:p>
                      <a:r>
                        <a:rPr b="1" sz="1200">
                          <a:solidFill>
                            <a:srgbClr val="F5C84C"/>
                          </a:solidFill>
                          <a:latin typeface="Calibri"/>
                        </a:rPr>
                        <a:t>State Acc</a:t>
                      </a:r>
                    </a:p>
                  </a:txBody>
                  <a:tcPr>
                    <a:solidFill>
                      <a:srgbClr val="3A3A40"/>
                    </a:solidFill>
                  </a:tcPr>
                </a:tc>
                <a:tc>
                  <a:txBody>
                    <a:bodyPr lIns="73152" rIns="73152" tIns="36576" bIns="36576"/>
                    <a:lstStyle/>
                    <a:p>
                      <a:r>
                        <a:rPr b="1" sz="1200">
                          <a:solidFill>
                            <a:srgbClr val="F5C84C"/>
                          </a:solidFill>
                          <a:latin typeface="Calibri"/>
                        </a:rPr>
                        <a:t>Δ</a:t>
                      </a:r>
                    </a:p>
                  </a:txBody>
                  <a:tcPr>
                    <a:solidFill>
                      <a:srgbClr val="3A3A40"/>
                    </a:solidFill>
                  </a:tcPr>
                </a:tc>
              </a:tr>
              <a:tr h="320040">
                <a:tc>
                  <a:txBody>
                    <a:bodyPr lIns="73152" rIns="73152" tIns="36576" bIns="36576"/>
                    <a:lstStyle/>
                    <a:p>
                      <a:r>
                        <a:rPr sz="1200">
                          <a:solidFill>
                            <a:srgbClr val="F2EEE5"/>
                          </a:solidFill>
                          <a:latin typeface="Calibri"/>
                        </a:rPr>
                        <a:t>GPT-4o (original KELE)</a:t>
                      </a:r>
                    </a:p>
                  </a:txBody>
                  <a:tcPr>
                    <a:solidFill>
                      <a:srgbClr val="2D2D32"/>
                    </a:solidFill>
                  </a:tcPr>
                </a:tc>
                <a:tc>
                  <a:txBody>
                    <a:bodyPr lIns="73152" rIns="73152" tIns="36576" bIns="36576"/>
                    <a:lstStyle/>
                    <a:p>
                      <a:r>
                        <a:rPr sz="1200">
                          <a:solidFill>
                            <a:srgbClr val="F2EEE5"/>
                          </a:solidFill>
                          <a:latin typeface="Calibri"/>
                        </a:rPr>
                        <a:t>SocratTeachLLM</a:t>
                      </a:r>
                    </a:p>
                  </a:txBody>
                  <a:tcPr>
                    <a:solidFill>
                      <a:srgbClr val="2D2D32"/>
                    </a:solidFill>
                  </a:tcPr>
                </a:tc>
                <a:tc>
                  <a:txBody>
                    <a:bodyPr lIns="73152" rIns="73152" tIns="36576" bIns="36576"/>
                    <a:lstStyle/>
                    <a:p>
                      <a:r>
                        <a:rPr sz="1200">
                          <a:solidFill>
                            <a:srgbClr val="F2EEE5"/>
                          </a:solidFill>
                          <a:latin typeface="Calibri"/>
                        </a:rPr>
                        <a:t>25.94%</a:t>
                      </a:r>
                    </a:p>
                  </a:txBody>
                  <a:tcPr>
                    <a:solidFill>
                      <a:srgbClr val="2D2D32"/>
                    </a:solidFill>
                  </a:tcPr>
                </a:tc>
                <a:tc>
                  <a:txBody>
                    <a:bodyPr lIns="73152" rIns="73152" tIns="36576" bIns="36576"/>
                    <a:lstStyle/>
                    <a:p>
                      <a:r>
                        <a:rPr sz="1200">
                          <a:solidFill>
                            <a:srgbClr val="F2EEE5"/>
                          </a:solidFill>
                          <a:latin typeface="Calibri"/>
                        </a:rPr>
                        <a:t>baseline</a:t>
                      </a:r>
                    </a:p>
                  </a:txBody>
                  <a:tcPr>
                    <a:solidFill>
                      <a:srgbClr val="2D2D32"/>
                    </a:solidFill>
                  </a:tcPr>
                </a:tc>
              </a:tr>
              <a:tr h="320040">
                <a:tc>
                  <a:txBody>
                    <a:bodyPr lIns="73152" rIns="73152" tIns="36576" bIns="36576"/>
                    <a:lstStyle/>
                    <a:p>
                      <a:r>
                        <a:rPr sz="1200" b="1" i="0">
                          <a:solidFill>
                            <a:srgbClr val="F2EEE5"/>
                          </a:solidFill>
                          <a:latin typeface="Calibri"/>
                        </a:rPr>
                        <a:t>BERT (ours)</a:t>
                      </a:r>
                    </a:p>
                  </a:txBody>
                  <a:tcPr>
                    <a:solidFill>
                      <a:srgbClr val="2D2D32"/>
                    </a:solidFill>
                  </a:tcPr>
                </a:tc>
                <a:tc>
                  <a:txBody>
                    <a:bodyPr lIns="73152" rIns="73152" tIns="36576" bIns="36576"/>
                    <a:lstStyle/>
                    <a:p>
                      <a:r>
                        <a:rPr sz="1200">
                          <a:solidFill>
                            <a:srgbClr val="F2EEE5"/>
                          </a:solidFill>
                          <a:latin typeface="Calibri"/>
                        </a:rPr>
                        <a:t>Gemma 31B</a:t>
                      </a:r>
                    </a:p>
                  </a:txBody>
                  <a:tcPr>
                    <a:solidFill>
                      <a:srgbClr val="2D2D32"/>
                    </a:solidFill>
                  </a:tcPr>
                </a:tc>
                <a:tc>
                  <a:txBody>
                    <a:bodyPr lIns="73152" rIns="73152" tIns="36576" bIns="36576"/>
                    <a:lstStyle/>
                    <a:p>
                      <a:r>
                        <a:rPr sz="1200">
                          <a:solidFill>
                            <a:srgbClr val="F2EEE5"/>
                          </a:solidFill>
                          <a:latin typeface="Calibri"/>
                        </a:rPr>
                        <a:t>48.15%</a:t>
                      </a:r>
                    </a:p>
                  </a:txBody>
                  <a:tcPr>
                    <a:solidFill>
                      <a:srgbClr val="2D2D32"/>
                    </a:solidFill>
                  </a:tcPr>
                </a:tc>
                <a:tc>
                  <a:txBody>
                    <a:bodyPr lIns="73152" rIns="73152" tIns="36576" bIns="36576"/>
                    <a:lstStyle/>
                    <a:p>
                      <a:r>
                        <a:rPr sz="1200" b="1" i="0">
                          <a:solidFill>
                            <a:srgbClr val="6EC47A"/>
                          </a:solidFill>
                          <a:latin typeface="Calibri"/>
                        </a:rPr>
                        <a:t>+22.21 pp</a:t>
                      </a:r>
                    </a:p>
                  </a:txBody>
                  <a:tcPr>
                    <a:solidFill>
                      <a:srgbClr val="2D2D32"/>
                    </a:solidFill>
                  </a:tcPr>
                </a:tc>
              </a:tr>
              <a:tr h="320040">
                <a:tc>
                  <a:txBody>
                    <a:bodyPr lIns="73152" rIns="73152" tIns="36576" bIns="36576"/>
                    <a:lstStyle/>
                    <a:p>
                      <a:r>
                        <a:rPr sz="1200" b="1" i="0">
                          <a:solidFill>
                            <a:srgbClr val="F2EEE5"/>
                          </a:solidFill>
                          <a:latin typeface="Calibri"/>
                        </a:rPr>
                        <a:t>BERT (ours)</a:t>
                      </a:r>
                    </a:p>
                  </a:txBody>
                  <a:tcPr>
                    <a:solidFill>
                      <a:srgbClr val="2D2D32"/>
                    </a:solidFill>
                  </a:tcPr>
                </a:tc>
                <a:tc>
                  <a:txBody>
                    <a:bodyPr lIns="73152" rIns="73152" tIns="36576" bIns="36576"/>
                    <a:lstStyle/>
                    <a:p>
                      <a:r>
                        <a:rPr sz="1200">
                          <a:solidFill>
                            <a:srgbClr val="F2EEE5"/>
                          </a:solidFill>
                          <a:latin typeface="Calibri"/>
                        </a:rPr>
                        <a:t>Claude Sonnet</a:t>
                      </a:r>
                    </a:p>
                  </a:txBody>
                  <a:tcPr>
                    <a:solidFill>
                      <a:srgbClr val="2D2D32"/>
                    </a:solidFill>
                  </a:tcPr>
                </a:tc>
                <a:tc>
                  <a:txBody>
                    <a:bodyPr lIns="73152" rIns="73152" tIns="36576" bIns="36576"/>
                    <a:lstStyle/>
                    <a:p>
                      <a:r>
                        <a:rPr sz="1200">
                          <a:solidFill>
                            <a:srgbClr val="F2EEE5"/>
                          </a:solidFill>
                          <a:latin typeface="Calibri"/>
                        </a:rPr>
                        <a:t>49.97%</a:t>
                      </a:r>
                    </a:p>
                  </a:txBody>
                  <a:tcPr>
                    <a:solidFill>
                      <a:srgbClr val="2D2D32"/>
                    </a:solidFill>
                  </a:tcPr>
                </a:tc>
                <a:tc>
                  <a:txBody>
                    <a:bodyPr lIns="73152" rIns="73152" tIns="36576" bIns="36576"/>
                    <a:lstStyle/>
                    <a:p>
                      <a:r>
                        <a:rPr sz="1200" b="1" i="0">
                          <a:solidFill>
                            <a:srgbClr val="6EC47A"/>
                          </a:solidFill>
                          <a:latin typeface="Calibri"/>
                        </a:rPr>
                        <a:t>+24.03 pp</a:t>
                      </a:r>
                    </a:p>
                  </a:txBody>
                  <a:tcPr>
                    <a:solidFill>
                      <a:srgbClr val="2D2D32"/>
                    </a:solidFill>
                  </a:tcPr>
                </a:tc>
              </a:tr>
            </a:tbl>
          </a:graphicData>
        </a:graphic>
      </p:graphicFrame>
      <p:sp>
        <p:nvSpPr>
          <p:cNvPr id="9" name="TextBox 8"/>
          <p:cNvSpPr txBox="1"/>
          <p:nvPr/>
        </p:nvSpPr>
        <p:spPr>
          <a:xfrm>
            <a:off x="7589520" y="1417320"/>
            <a:ext cx="4389120" cy="365760"/>
          </a:xfrm>
          <a:prstGeom prst="rect">
            <a:avLst/>
          </a:prstGeom>
          <a:noFill/>
        </p:spPr>
        <p:txBody>
          <a:bodyPr wrap="square">
            <a:spAutoFit/>
          </a:bodyPr>
          <a:lstStyle/>
          <a:p>
            <a:pPr algn="l"/>
            <a:r>
              <a:rPr sz="1700" b="1" i="0">
                <a:solidFill>
                  <a:srgbClr val="F5C84C"/>
                </a:solidFill>
                <a:latin typeface="Calibri"/>
              </a:rPr>
              <a:t>2. Unified score — memorization-resistant ranking</a:t>
            </a:r>
          </a:p>
        </p:txBody>
      </p:sp>
      <p:sp>
        <p:nvSpPr>
          <p:cNvPr id="10" name="Rounded Rectangle 9"/>
          <p:cNvSpPr/>
          <p:nvPr/>
        </p:nvSpPr>
        <p:spPr>
          <a:xfrm>
            <a:off x="7589520" y="1874519"/>
            <a:ext cx="4389120" cy="685800"/>
          </a:xfrm>
          <a:prstGeom prst="roundRect">
            <a:avLst/>
          </a:prstGeom>
          <a:solidFill>
            <a:srgbClr val="3A3A40"/>
          </a:solidFill>
          <a:ln w="12700">
            <a:solidFill>
              <a:srgbClr val="F5C84C"/>
            </a:solidFill>
          </a:ln>
        </p:spPr>
        <p:style>
          <a:lnRef idx="1">
            <a:schemeClr val="accent1"/>
          </a:lnRef>
          <a:fillRef idx="3">
            <a:schemeClr val="accent1"/>
          </a:fillRef>
          <a:effectRef idx="2">
            <a:schemeClr val="accent1"/>
          </a:effectRef>
          <a:fontRef idx="minor">
            <a:schemeClr val="lt1"/>
          </a:fontRef>
        </p:style>
        <p:txBody>
          <a:bodyPr rtlCol="0" anchor="ctr" tIns="164592"/>
          <a:lstStyle/>
          <a:p>
            <a:pPr algn="ctr"/>
            <a:r>
              <a:rPr sz="1400" b="1">
                <a:solidFill>
                  <a:srgbClr val="F2EEE5"/>
                </a:solidFill>
                <a:latin typeface="Consolas"/>
              </a:rPr>
              <a:t>unified = 0.5 × stage_balanced + 0.5 × (judge × 10)</a:t>
            </a:r>
          </a:p>
        </p:txBody>
      </p:sp>
      <p:sp>
        <p:nvSpPr>
          <p:cNvPr id="11" name="TextBox 10"/>
          <p:cNvSpPr txBox="1"/>
          <p:nvPr/>
        </p:nvSpPr>
        <p:spPr>
          <a:xfrm>
            <a:off x="7589520" y="2697480"/>
            <a:ext cx="4389120" cy="3200400"/>
          </a:xfrm>
          <a:prstGeom prst="rect">
            <a:avLst/>
          </a:prstGeom>
          <a:noFill/>
        </p:spPr>
        <p:txBody>
          <a:bodyPr wrap="square">
            <a:spAutoFit/>
          </a:bodyPr>
          <a:lstStyle/>
          <a:p>
            <a:pPr algn="l">
              <a:lnSpc>
                <a:spcPct val="115000"/>
              </a:lnSpc>
              <a:spcAft>
                <a:spcPts val="400"/>
              </a:spcAft>
            </a:pPr>
            <a:r>
              <a:rPr sz="1600" b="1">
                <a:solidFill>
                  <a:srgbClr val="F5C84C"/>
                </a:solidFill>
                <a:latin typeface="Calibri"/>
              </a:rPr>
              <a:t>• </a:t>
            </a:r>
            <a:r>
              <a:rPr sz="1200" b="0" i="0">
                <a:solidFill>
                  <a:srgbClr val="F2EEE5"/>
                </a:solidFill>
                <a:latin typeface="Calibri"/>
              </a:rPr>
              <a:t>stage_balanced = macro-F1 over 5 SocRule stages (closure is rare; macro-acc hides it)</a:t>
            </a:r>
          </a:p>
          <a:p>
            <a:pPr algn="l">
              <a:lnSpc>
                <a:spcPct val="115000"/>
              </a:lnSpc>
              <a:spcAft>
                <a:spcPts val="400"/>
              </a:spcAft>
            </a:pPr>
            <a:r>
              <a:rPr sz="1600" b="1">
                <a:solidFill>
                  <a:srgbClr val="F5C84C"/>
                </a:solidFill>
                <a:latin typeface="Calibri"/>
              </a:rPr>
              <a:t>• </a:t>
            </a:r>
            <a:r>
              <a:rPr sz="1200" b="0" i="0">
                <a:solidFill>
                  <a:srgbClr val="F2EEE5"/>
                </a:solidFill>
                <a:latin typeface="Calibri"/>
              </a:rPr>
              <a:t>LLM-judge = Claude Sonnet 4.6, 4 rubric axes (Socratic validity · stage advance · age-appropriate · question form)</a:t>
            </a:r>
          </a:p>
          <a:p>
            <a:pPr algn="l">
              <a:lnSpc>
                <a:spcPct val="115000"/>
              </a:lnSpc>
              <a:spcAft>
                <a:spcPts val="400"/>
              </a:spcAft>
            </a:pPr>
            <a:r>
              <a:rPr sz="1600" b="1">
                <a:solidFill>
                  <a:srgbClr val="F5C84C"/>
                </a:solidFill>
                <a:latin typeface="Calibri"/>
              </a:rPr>
              <a:t>• </a:t>
            </a:r>
            <a:r>
              <a:rPr sz="1200" b="0" i="0">
                <a:solidFill>
                  <a:srgbClr val="F08A4B"/>
                </a:solidFill>
                <a:latin typeface="Calibri"/>
              </a:rPr>
              <a:t>Two orthogonal axes — neither rewards token overlap</a:t>
            </a:r>
          </a:p>
        </p:txBody>
      </p:sp>
      <p:sp>
        <p:nvSpPr>
          <p:cNvPr id="12" name="TextBox 11"/>
          <p:cNvSpPr txBox="1"/>
          <p:nvPr/>
        </p:nvSpPr>
        <p:spPr>
          <a:xfrm>
            <a:off x="457200" y="5669280"/>
            <a:ext cx="11430000" cy="548640"/>
          </a:xfrm>
          <a:prstGeom prst="rect">
            <a:avLst/>
          </a:prstGeom>
          <a:noFill/>
        </p:spPr>
        <p:txBody>
          <a:bodyPr wrap="square">
            <a:spAutoFit/>
          </a:bodyPr>
          <a:lstStyle/>
          <a:p>
            <a:pPr algn="l"/>
            <a:r>
              <a:rPr sz="1400" b="1" i="1">
                <a:solidFill>
                  <a:srgbClr val="F08A4B"/>
                </a:solidFill>
                <a:latin typeface="Calibri"/>
              </a:rPr>
              <a:t>Bottom line: a 24M-param classifier replaces the LLM consultant + we have a metric the paper's fine-tuned model can't game.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D2D32"/>
        </a:solidFill>
        <a:effectLst/>
      </p:bgPr>
    </p:bg>
    <p:spTree>
      <p:nvGrpSpPr>
        <p:cNvPr id="1" name=""/>
        <p:cNvGrpSpPr/>
        <p:nvPr/>
      </p:nvGrpSpPr>
      <p:grpSpPr/>
      <p:sp>
        <p:nvSpPr>
          <p:cNvPr id="2" name="TextBox 1"/>
          <p:cNvSpPr txBox="1"/>
          <p:nvPr/>
        </p:nvSpPr>
        <p:spPr>
          <a:xfrm>
            <a:off x="457200" y="320040"/>
            <a:ext cx="10972800" cy="731520"/>
          </a:xfrm>
          <a:prstGeom prst="rect">
            <a:avLst/>
          </a:prstGeom>
          <a:noFill/>
        </p:spPr>
        <p:txBody>
          <a:bodyPr wrap="square">
            <a:spAutoFit/>
          </a:bodyPr>
          <a:lstStyle/>
          <a:p>
            <a:pPr algn="l"/>
            <a:r>
              <a:rPr sz="3200" b="1" i="0">
                <a:solidFill>
                  <a:srgbClr val="F5C84C"/>
                </a:solidFill>
                <a:latin typeface="Calibri"/>
              </a:rPr>
              <a:t>Master Leaderboard + Local–Frontier Parity</a:t>
            </a:r>
          </a:p>
        </p:txBody>
      </p:sp>
      <p:sp>
        <p:nvSpPr>
          <p:cNvPr id="3" name="Rectangle 2"/>
          <p:cNvSpPr/>
          <p:nvPr/>
        </p:nvSpPr>
        <p:spPr>
          <a:xfrm>
            <a:off x="457200" y="960120"/>
            <a:ext cx="1097280" cy="45720"/>
          </a:xfrm>
          <a:prstGeom prst="rect">
            <a:avLst/>
          </a:prstGeom>
          <a:solidFill>
            <a:srgbClr val="F5C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78992"/>
            <a:ext cx="7315200" cy="274320"/>
          </a:xfrm>
          <a:prstGeom prst="rect">
            <a:avLst/>
          </a:prstGeom>
          <a:noFill/>
        </p:spPr>
        <p:txBody>
          <a:bodyPr wrap="square">
            <a:spAutoFit/>
          </a:bodyPr>
          <a:lstStyle/>
          <a:p>
            <a:pPr algn="l"/>
            <a:r>
              <a:rPr sz="1200" b="0" i="0">
                <a:solidFill>
                  <a:srgbClr val="B8B8B8"/>
                </a:solidFill>
                <a:latin typeface="Calibri"/>
              </a:rPr>
              <a:t>Max · ~90 s · shipping pitch direction #4 (Stronger Evaluation)</a:t>
            </a:r>
          </a:p>
        </p:txBody>
      </p:sp>
      <p:sp>
        <p:nvSpPr>
          <p:cNvPr id="5" name="TextBox 4"/>
          <p:cNvSpPr txBox="1"/>
          <p:nvPr/>
        </p:nvSpPr>
        <p:spPr>
          <a:xfrm>
            <a:off x="365760" y="6446520"/>
            <a:ext cx="10972800" cy="274320"/>
          </a:xfrm>
          <a:prstGeom prst="rect">
            <a:avLst/>
          </a:prstGeom>
          <a:noFill/>
        </p:spPr>
        <p:txBody>
          <a:bodyPr wrap="square">
            <a:spAutoFit/>
          </a:bodyPr>
          <a:lstStyle/>
          <a:p>
            <a:pPr algn="l"/>
            <a:r>
              <a:rPr sz="1000" b="0" i="0">
                <a:solidFill>
                  <a:srgbClr val="B8B8B8"/>
                </a:solidFill>
                <a:latin typeface="Calibri"/>
              </a:rPr>
              <a:t>CSEN 346 · Natural Language Processing · Cyberdyne · May 26, 2026</a:t>
            </a:r>
          </a:p>
        </p:txBody>
      </p:sp>
      <p:sp>
        <p:nvSpPr>
          <p:cNvPr id="6" name="TextBox 5"/>
          <p:cNvSpPr txBox="1"/>
          <p:nvPr/>
        </p:nvSpPr>
        <p:spPr>
          <a:xfrm>
            <a:off x="457200" y="1417320"/>
            <a:ext cx="11430000" cy="365760"/>
          </a:xfrm>
          <a:prstGeom prst="rect">
            <a:avLst/>
          </a:prstGeom>
          <a:noFill/>
        </p:spPr>
        <p:txBody>
          <a:bodyPr wrap="square">
            <a:spAutoFit/>
          </a:bodyPr>
          <a:lstStyle/>
          <a:p>
            <a:pPr algn="l"/>
            <a:r>
              <a:rPr sz="1400" b="0" i="1">
                <a:solidFill>
                  <a:srgbClr val="B8B8B8"/>
                </a:solidFill>
                <a:latin typeface="Calibri"/>
              </a:rPr>
              <a:t>142 configurations measured. 37 with full unified score. Top of the pedagogical ranking:</a:t>
            </a:r>
          </a:p>
        </p:txBody>
      </p:sp>
      <p:graphicFrame>
        <p:nvGraphicFramePr>
          <p:cNvPr id="7" name="Table 6"/>
          <p:cNvGraphicFramePr>
            <a:graphicFrameLocks noGrp="1"/>
          </p:cNvGraphicFramePr>
          <p:nvPr/>
        </p:nvGraphicFramePr>
        <p:xfrm>
          <a:off x="457200" y="1874519"/>
          <a:ext cx="11247120" cy="2377440"/>
        </p:xfrm>
        <a:graphic>
          <a:graphicData uri="http://schemas.openxmlformats.org/drawingml/2006/table">
            <a:tbl>
              <a:tblPr firstRow="1" bandRow="1">
                <a:tableStyleId>{5C22544A-7EE6-4342-B048-85BDC9FD1C3A}</a:tableStyleId>
              </a:tblPr>
              <a:tblGrid>
                <a:gridCol w="1874520"/>
                <a:gridCol w="1874520"/>
                <a:gridCol w="1874520"/>
                <a:gridCol w="1874520"/>
                <a:gridCol w="1874520"/>
                <a:gridCol w="1874520"/>
              </a:tblGrid>
              <a:tr h="339634">
                <a:tc>
                  <a:txBody>
                    <a:bodyPr lIns="73152" rIns="73152" tIns="36576" bIns="36576"/>
                    <a:lstStyle/>
                    <a:p>
                      <a:r>
                        <a:rPr b="1" sz="1200">
                          <a:solidFill>
                            <a:srgbClr val="F5C84C"/>
                          </a:solidFill>
                          <a:latin typeface="Calibri"/>
                        </a:rPr>
                        <a:t>Rank</a:t>
                      </a:r>
                    </a:p>
                  </a:txBody>
                  <a:tcPr>
                    <a:solidFill>
                      <a:srgbClr val="3A3A40"/>
                    </a:solidFill>
                  </a:tcPr>
                </a:tc>
                <a:tc>
                  <a:txBody>
                    <a:bodyPr lIns="73152" rIns="73152" tIns="36576" bIns="36576"/>
                    <a:lstStyle/>
                    <a:p>
                      <a:r>
                        <a:rPr b="1" sz="1200">
                          <a:solidFill>
                            <a:srgbClr val="F5C84C"/>
                          </a:solidFill>
                          <a:latin typeface="Calibri"/>
                        </a:rPr>
                        <a:t>Config</a:t>
                      </a:r>
                    </a:p>
                  </a:txBody>
                  <a:tcPr>
                    <a:solidFill>
                      <a:srgbClr val="3A3A40"/>
                    </a:solidFill>
                  </a:tcPr>
                </a:tc>
                <a:tc>
                  <a:txBody>
                    <a:bodyPr lIns="73152" rIns="73152" tIns="36576" bIns="36576"/>
                    <a:lstStyle/>
                    <a:p>
                      <a:r>
                        <a:rPr b="1" sz="1200">
                          <a:solidFill>
                            <a:srgbClr val="F5C84C"/>
                          </a:solidFill>
                          <a:latin typeface="Calibri"/>
                        </a:rPr>
                        <a:t>n</a:t>
                      </a:r>
                    </a:p>
                  </a:txBody>
                  <a:tcPr>
                    <a:solidFill>
                      <a:srgbClr val="3A3A40"/>
                    </a:solidFill>
                  </a:tcPr>
                </a:tc>
                <a:tc>
                  <a:txBody>
                    <a:bodyPr lIns="73152" rIns="73152" tIns="36576" bIns="36576"/>
                    <a:lstStyle/>
                    <a:p>
                      <a:r>
                        <a:rPr b="1" sz="1200">
                          <a:solidFill>
                            <a:srgbClr val="F5C84C"/>
                          </a:solidFill>
                          <a:latin typeface="Calibri"/>
                        </a:rPr>
                        <a:t>Unified</a:t>
                      </a:r>
                    </a:p>
                  </a:txBody>
                  <a:tcPr>
                    <a:solidFill>
                      <a:srgbClr val="3A3A40"/>
                    </a:solidFill>
                  </a:tcPr>
                </a:tc>
                <a:tc>
                  <a:txBody>
                    <a:bodyPr lIns="73152" rIns="73152" tIns="36576" bIns="36576"/>
                    <a:lstStyle/>
                    <a:p>
                      <a:r>
                        <a:rPr b="1" sz="1200">
                          <a:solidFill>
                            <a:srgbClr val="F5C84C"/>
                          </a:solidFill>
                          <a:latin typeface="Calibri"/>
                        </a:rPr>
                        <a:t>Stage_bal</a:t>
                      </a:r>
                    </a:p>
                  </a:txBody>
                  <a:tcPr>
                    <a:solidFill>
                      <a:srgbClr val="3A3A40"/>
                    </a:solidFill>
                  </a:tcPr>
                </a:tc>
                <a:tc>
                  <a:txBody>
                    <a:bodyPr lIns="73152" rIns="73152" tIns="36576" bIns="36576"/>
                    <a:lstStyle/>
                    <a:p>
                      <a:r>
                        <a:rPr b="1" sz="1200">
                          <a:solidFill>
                            <a:srgbClr val="F5C84C"/>
                          </a:solidFill>
                          <a:latin typeface="Calibri"/>
                        </a:rPr>
                        <a:t>Judge</a:t>
                      </a:r>
                    </a:p>
                  </a:txBody>
                  <a:tcPr>
                    <a:solidFill>
                      <a:srgbClr val="3A3A40"/>
                    </a:solidFill>
                  </a:tcPr>
                </a:tc>
              </a:tr>
              <a:tr h="339634">
                <a:tc>
                  <a:txBody>
                    <a:bodyPr lIns="73152" rIns="73152" tIns="36576" bIns="36576"/>
                    <a:lstStyle/>
                    <a:p>
                      <a:r>
                        <a:rPr sz="1200">
                          <a:solidFill>
                            <a:srgbClr val="F2EEE5"/>
                          </a:solidFill>
                          <a:latin typeface="Calibri"/>
                        </a:rPr>
                        <a:t>🥇 1</a:t>
                      </a:r>
                    </a:p>
                  </a:txBody>
                  <a:tcPr>
                    <a:solidFill>
                      <a:srgbClr val="2D2D32"/>
                    </a:solidFill>
                  </a:tcPr>
                </a:tc>
                <a:tc>
                  <a:txBody>
                    <a:bodyPr lIns="73152" rIns="73152" tIns="36576" bIns="36576"/>
                    <a:lstStyle/>
                    <a:p>
                      <a:r>
                        <a:rPr sz="1200">
                          <a:solidFill>
                            <a:srgbClr val="F2EEE5"/>
                          </a:solidFill>
                          <a:latin typeface="Calibri"/>
                        </a:rPr>
                        <a:t>bert × Gemma-31B · top3 · n=50</a:t>
                      </a:r>
                    </a:p>
                  </a:txBody>
                  <a:tcPr>
                    <a:solidFill>
                      <a:srgbClr val="2D2D32"/>
                    </a:solidFill>
                  </a:tcPr>
                </a:tc>
                <a:tc>
                  <a:txBody>
                    <a:bodyPr lIns="73152" rIns="73152" tIns="36576" bIns="36576"/>
                    <a:lstStyle/>
                    <a:p>
                      <a:r>
                        <a:rPr sz="1200">
                          <a:solidFill>
                            <a:srgbClr val="F2EEE5"/>
                          </a:solidFill>
                          <a:latin typeface="Calibri"/>
                        </a:rPr>
                        <a:t>278</a:t>
                      </a:r>
                    </a:p>
                  </a:txBody>
                  <a:tcPr>
                    <a:solidFill>
                      <a:srgbClr val="2D2D32"/>
                    </a:solidFill>
                  </a:tcPr>
                </a:tc>
                <a:tc>
                  <a:txBody>
                    <a:bodyPr lIns="73152" rIns="73152" tIns="36576" bIns="36576"/>
                    <a:lstStyle/>
                    <a:p>
                      <a:r>
                        <a:rPr sz="1200" b="1" i="0">
                          <a:solidFill>
                            <a:srgbClr val="6EC47A"/>
                          </a:solidFill>
                          <a:latin typeface="Calibri"/>
                        </a:rPr>
                        <a:t>70.08</a:t>
                      </a:r>
                    </a:p>
                  </a:txBody>
                  <a:tcPr>
                    <a:solidFill>
                      <a:srgbClr val="2D2D32"/>
                    </a:solidFill>
                  </a:tcPr>
                </a:tc>
                <a:tc>
                  <a:txBody>
                    <a:bodyPr lIns="73152" rIns="73152" tIns="36576" bIns="36576"/>
                    <a:lstStyle/>
                    <a:p>
                      <a:r>
                        <a:rPr sz="1200">
                          <a:solidFill>
                            <a:srgbClr val="F2EEE5"/>
                          </a:solidFill>
                          <a:latin typeface="Calibri"/>
                        </a:rPr>
                        <a:t>58.48</a:t>
                      </a:r>
                    </a:p>
                  </a:txBody>
                  <a:tcPr>
                    <a:solidFill>
                      <a:srgbClr val="2D2D32"/>
                    </a:solidFill>
                  </a:tcPr>
                </a:tc>
                <a:tc>
                  <a:txBody>
                    <a:bodyPr lIns="73152" rIns="73152" tIns="36576" bIns="36576"/>
                    <a:lstStyle/>
                    <a:p>
                      <a:r>
                        <a:rPr sz="1200">
                          <a:solidFill>
                            <a:srgbClr val="F2EEE5"/>
                          </a:solidFill>
                          <a:latin typeface="Calibri"/>
                        </a:rPr>
                        <a:t>8.17</a:t>
                      </a:r>
                    </a:p>
                  </a:txBody>
                  <a:tcPr>
                    <a:solidFill>
                      <a:srgbClr val="2D2D32"/>
                    </a:solidFill>
                  </a:tcPr>
                </a:tc>
              </a:tr>
              <a:tr h="339634">
                <a:tc>
                  <a:txBody>
                    <a:bodyPr lIns="73152" rIns="73152" tIns="36576" bIns="36576"/>
                    <a:lstStyle/>
                    <a:p>
                      <a:r>
                        <a:rPr sz="1200">
                          <a:solidFill>
                            <a:srgbClr val="F2EEE5"/>
                          </a:solidFill>
                          <a:latin typeface="Calibri"/>
                        </a:rPr>
                        <a:t>🥈 2</a:t>
                      </a:r>
                    </a:p>
                  </a:txBody>
                  <a:tcPr>
                    <a:solidFill>
                      <a:srgbClr val="2D2D32"/>
                    </a:solidFill>
                  </a:tcPr>
                </a:tc>
                <a:tc>
                  <a:txBody>
                    <a:bodyPr lIns="73152" rIns="73152" tIns="36576" bIns="36576"/>
                    <a:lstStyle/>
                    <a:p>
                      <a:r>
                        <a:rPr sz="1200">
                          <a:solidFill>
                            <a:srgbClr val="F2EEE5"/>
                          </a:solidFill>
                          <a:latin typeface="Calibri"/>
                        </a:rPr>
                        <a:t>bert × Claude-Sonnet · top3 · n=681</a:t>
                      </a:r>
                    </a:p>
                  </a:txBody>
                  <a:tcPr>
                    <a:solidFill>
                      <a:srgbClr val="2D2D32"/>
                    </a:solidFill>
                  </a:tcPr>
                </a:tc>
                <a:tc>
                  <a:txBody>
                    <a:bodyPr lIns="73152" rIns="73152" tIns="36576" bIns="36576"/>
                    <a:lstStyle/>
                    <a:p>
                      <a:r>
                        <a:rPr sz="1200">
                          <a:solidFill>
                            <a:srgbClr val="F2EEE5"/>
                          </a:solidFill>
                          <a:latin typeface="Calibri"/>
                        </a:rPr>
                        <a:t>3840</a:t>
                      </a:r>
                    </a:p>
                  </a:txBody>
                  <a:tcPr>
                    <a:solidFill>
                      <a:srgbClr val="2D2D32"/>
                    </a:solidFill>
                  </a:tcPr>
                </a:tc>
                <a:tc>
                  <a:txBody>
                    <a:bodyPr lIns="73152" rIns="73152" tIns="36576" bIns="36576"/>
                    <a:lstStyle/>
                    <a:p>
                      <a:r>
                        <a:rPr sz="1200">
                          <a:solidFill>
                            <a:srgbClr val="F2EEE5"/>
                          </a:solidFill>
                          <a:latin typeface="Calibri"/>
                        </a:rPr>
                        <a:t>70.06</a:t>
                      </a:r>
                    </a:p>
                  </a:txBody>
                  <a:tcPr>
                    <a:solidFill>
                      <a:srgbClr val="2D2D32"/>
                    </a:solidFill>
                  </a:tcPr>
                </a:tc>
                <a:tc>
                  <a:txBody>
                    <a:bodyPr lIns="73152" rIns="73152" tIns="36576" bIns="36576"/>
                    <a:lstStyle/>
                    <a:p>
                      <a:r>
                        <a:rPr sz="1200">
                          <a:solidFill>
                            <a:srgbClr val="F2EEE5"/>
                          </a:solidFill>
                          <a:latin typeface="Calibri"/>
                        </a:rPr>
                        <a:t>58.17</a:t>
                      </a:r>
                    </a:p>
                  </a:txBody>
                  <a:tcPr>
                    <a:solidFill>
                      <a:srgbClr val="2D2D32"/>
                    </a:solidFill>
                  </a:tcPr>
                </a:tc>
                <a:tc>
                  <a:txBody>
                    <a:bodyPr lIns="73152" rIns="73152" tIns="36576" bIns="36576"/>
                    <a:lstStyle/>
                    <a:p>
                      <a:r>
                        <a:rPr sz="1200">
                          <a:solidFill>
                            <a:srgbClr val="F2EEE5"/>
                          </a:solidFill>
                          <a:latin typeface="Calibri"/>
                        </a:rPr>
                        <a:t>8.19</a:t>
                      </a:r>
                    </a:p>
                  </a:txBody>
                  <a:tcPr>
                    <a:solidFill>
                      <a:srgbClr val="2D2D32"/>
                    </a:solidFill>
                  </a:tcPr>
                </a:tc>
              </a:tr>
              <a:tr h="339634">
                <a:tc>
                  <a:txBody>
                    <a:bodyPr lIns="73152" rIns="73152" tIns="36576" bIns="36576"/>
                    <a:lstStyle/>
                    <a:p>
                      <a:r>
                        <a:rPr sz="1200">
                          <a:solidFill>
                            <a:srgbClr val="F2EEE5"/>
                          </a:solidFill>
                          <a:latin typeface="Calibri"/>
                        </a:rPr>
                        <a:t>🥉 3</a:t>
                      </a:r>
                    </a:p>
                  </a:txBody>
                  <a:tcPr>
                    <a:solidFill>
                      <a:srgbClr val="2D2D32"/>
                    </a:solidFill>
                  </a:tcPr>
                </a:tc>
                <a:tc>
                  <a:txBody>
                    <a:bodyPr lIns="73152" rIns="73152" tIns="36576" bIns="36576"/>
                    <a:lstStyle/>
                    <a:p>
                      <a:r>
                        <a:rPr sz="1200">
                          <a:solidFill>
                            <a:srgbClr val="F2EEE5"/>
                          </a:solidFill>
                          <a:latin typeface="Calibri"/>
                        </a:rPr>
                        <a:t>bert × Claude-Opus · fewshot10 · n=50</a:t>
                      </a:r>
                    </a:p>
                  </a:txBody>
                  <a:tcPr>
                    <a:solidFill>
                      <a:srgbClr val="2D2D32"/>
                    </a:solidFill>
                  </a:tcPr>
                </a:tc>
                <a:tc>
                  <a:txBody>
                    <a:bodyPr lIns="73152" rIns="73152" tIns="36576" bIns="36576"/>
                    <a:lstStyle/>
                    <a:p>
                      <a:r>
                        <a:rPr sz="1200">
                          <a:solidFill>
                            <a:srgbClr val="F2EEE5"/>
                          </a:solidFill>
                          <a:latin typeface="Calibri"/>
                        </a:rPr>
                        <a:t>271</a:t>
                      </a:r>
                    </a:p>
                  </a:txBody>
                  <a:tcPr>
                    <a:solidFill>
                      <a:srgbClr val="2D2D32"/>
                    </a:solidFill>
                  </a:tcPr>
                </a:tc>
                <a:tc>
                  <a:txBody>
                    <a:bodyPr lIns="73152" rIns="73152" tIns="36576" bIns="36576"/>
                    <a:lstStyle/>
                    <a:p>
                      <a:r>
                        <a:rPr sz="1200">
                          <a:solidFill>
                            <a:srgbClr val="F2EEE5"/>
                          </a:solidFill>
                          <a:latin typeface="Calibri"/>
                        </a:rPr>
                        <a:t>69.79</a:t>
                      </a:r>
                    </a:p>
                  </a:txBody>
                  <a:tcPr>
                    <a:solidFill>
                      <a:srgbClr val="2D2D32"/>
                    </a:solidFill>
                  </a:tcPr>
                </a:tc>
                <a:tc>
                  <a:txBody>
                    <a:bodyPr lIns="73152" rIns="73152" tIns="36576" bIns="36576"/>
                    <a:lstStyle/>
                    <a:p>
                      <a:r>
                        <a:rPr sz="1200">
                          <a:solidFill>
                            <a:srgbClr val="F2EEE5"/>
                          </a:solidFill>
                          <a:latin typeface="Calibri"/>
                        </a:rPr>
                        <a:t>58.73</a:t>
                      </a:r>
                    </a:p>
                  </a:txBody>
                  <a:tcPr>
                    <a:solidFill>
                      <a:srgbClr val="2D2D32"/>
                    </a:solidFill>
                  </a:tcPr>
                </a:tc>
                <a:tc>
                  <a:txBody>
                    <a:bodyPr lIns="73152" rIns="73152" tIns="36576" bIns="36576"/>
                    <a:lstStyle/>
                    <a:p>
                      <a:r>
                        <a:rPr sz="1200">
                          <a:solidFill>
                            <a:srgbClr val="F2EEE5"/>
                          </a:solidFill>
                          <a:latin typeface="Calibri"/>
                        </a:rPr>
                        <a:t>8.08</a:t>
                      </a:r>
                    </a:p>
                  </a:txBody>
                  <a:tcPr>
                    <a:solidFill>
                      <a:srgbClr val="2D2D32"/>
                    </a:solidFill>
                  </a:tcPr>
                </a:tc>
              </a:tr>
              <a:tr h="339634">
                <a:tc>
                  <a:txBody>
                    <a:bodyPr lIns="73152" rIns="73152" tIns="36576" bIns="36576"/>
                    <a:lstStyle/>
                    <a:p>
                      <a:r>
                        <a:rPr sz="1200">
                          <a:solidFill>
                            <a:srgbClr val="F2EEE5"/>
                          </a:solidFill>
                          <a:latin typeface="Calibri"/>
                        </a:rPr>
                        <a:t>🏆 7</a:t>
                      </a:r>
                    </a:p>
                  </a:txBody>
                  <a:tcPr>
                    <a:solidFill>
                      <a:srgbClr val="2D2D32"/>
                    </a:solidFill>
                  </a:tcPr>
                </a:tc>
                <a:tc>
                  <a:txBody>
                    <a:bodyPr lIns="73152" rIns="73152" tIns="36576" bIns="36576"/>
                    <a:lstStyle/>
                    <a:p>
                      <a:r>
                        <a:rPr sz="1200" b="1" i="0">
                          <a:solidFill>
                            <a:srgbClr val="F2EEE5"/>
                          </a:solidFill>
                          <a:latin typeface="Calibri"/>
                        </a:rPr>
                        <a:t>bert × Gemma-31B · fewshot10 · n=681</a:t>
                      </a:r>
                    </a:p>
                  </a:txBody>
                  <a:tcPr>
                    <a:solidFill>
                      <a:srgbClr val="2D2D32"/>
                    </a:solidFill>
                  </a:tcPr>
                </a:tc>
                <a:tc>
                  <a:txBody>
                    <a:bodyPr lIns="73152" rIns="73152" tIns="36576" bIns="36576"/>
                    <a:lstStyle/>
                    <a:p>
                      <a:r>
                        <a:rPr sz="1200">
                          <a:solidFill>
                            <a:srgbClr val="F2EEE5"/>
                          </a:solidFill>
                          <a:latin typeface="Calibri"/>
                        </a:rPr>
                        <a:t>3834</a:t>
                      </a:r>
                    </a:p>
                  </a:txBody>
                  <a:tcPr>
                    <a:solidFill>
                      <a:srgbClr val="2D2D32"/>
                    </a:solidFill>
                  </a:tcPr>
                </a:tc>
                <a:tc>
                  <a:txBody>
                    <a:bodyPr lIns="73152" rIns="73152" tIns="36576" bIns="36576"/>
                    <a:lstStyle/>
                    <a:p>
                      <a:r>
                        <a:rPr sz="1200" b="1" i="0">
                          <a:solidFill>
                            <a:srgbClr val="F5C84C"/>
                          </a:solidFill>
                          <a:latin typeface="Calibri"/>
                        </a:rPr>
                        <a:t>68.65</a:t>
                      </a:r>
                    </a:p>
                  </a:txBody>
                  <a:tcPr>
                    <a:solidFill>
                      <a:srgbClr val="2D2D32"/>
                    </a:solidFill>
                  </a:tcPr>
                </a:tc>
                <a:tc>
                  <a:txBody>
                    <a:bodyPr lIns="73152" rIns="73152" tIns="36576" bIns="36576"/>
                    <a:lstStyle/>
                    <a:p>
                      <a:r>
                        <a:rPr sz="1200">
                          <a:solidFill>
                            <a:srgbClr val="F2EEE5"/>
                          </a:solidFill>
                          <a:latin typeface="Calibri"/>
                        </a:rPr>
                        <a:t>55.42</a:t>
                      </a:r>
                    </a:p>
                  </a:txBody>
                  <a:tcPr>
                    <a:solidFill>
                      <a:srgbClr val="2D2D32"/>
                    </a:solidFill>
                  </a:tcPr>
                </a:tc>
                <a:tc>
                  <a:txBody>
                    <a:bodyPr lIns="73152" rIns="73152" tIns="36576" bIns="36576"/>
                    <a:lstStyle/>
                    <a:p>
                      <a:r>
                        <a:rPr sz="1200">
                          <a:solidFill>
                            <a:srgbClr val="F2EEE5"/>
                          </a:solidFill>
                          <a:latin typeface="Calibri"/>
                        </a:rPr>
                        <a:t>8.19</a:t>
                      </a:r>
                    </a:p>
                  </a:txBody>
                  <a:tcPr>
                    <a:solidFill>
                      <a:srgbClr val="2D2D32"/>
                    </a:solidFill>
                  </a:tcPr>
                </a:tc>
              </a:tr>
              <a:tr h="339634">
                <a:tc>
                  <a:txBody>
                    <a:bodyPr lIns="73152" rIns="73152" tIns="36576" bIns="36576"/>
                    <a:lstStyle/>
                    <a:p>
                      <a:r>
                        <a:rPr sz="1200">
                          <a:solidFill>
                            <a:srgbClr val="F2EEE5"/>
                          </a:solidFill>
                          <a:latin typeface="Calibri"/>
                        </a:rPr>
                        <a:t>⚠️ 8</a:t>
                      </a:r>
                    </a:p>
                  </a:txBody>
                  <a:tcPr>
                    <a:solidFill>
                      <a:srgbClr val="2D2D32"/>
                    </a:solidFill>
                  </a:tcPr>
                </a:tc>
                <a:tc>
                  <a:txBody>
                    <a:bodyPr lIns="73152" rIns="73152" tIns="36576" bIns="36576"/>
                    <a:lstStyle/>
                    <a:p>
                      <a:r>
                        <a:rPr sz="1200">
                          <a:solidFill>
                            <a:srgbClr val="F2EEE5"/>
                          </a:solidFill>
                          <a:latin typeface="Calibri"/>
                        </a:rPr>
                        <a:t>qwen3.5 × SocratTeachLLM · n=50</a:t>
                      </a:r>
                    </a:p>
                  </a:txBody>
                  <a:tcPr>
                    <a:solidFill>
                      <a:srgbClr val="2D2D32"/>
                    </a:solidFill>
                  </a:tcPr>
                </a:tc>
                <a:tc>
                  <a:txBody>
                    <a:bodyPr lIns="73152" rIns="73152" tIns="36576" bIns="36576"/>
                    <a:lstStyle/>
                    <a:p>
                      <a:r>
                        <a:rPr sz="1200">
                          <a:solidFill>
                            <a:srgbClr val="F2EEE5"/>
                          </a:solidFill>
                          <a:latin typeface="Calibri"/>
                        </a:rPr>
                        <a:t>288</a:t>
                      </a:r>
                    </a:p>
                  </a:txBody>
                  <a:tcPr>
                    <a:solidFill>
                      <a:srgbClr val="2D2D32"/>
                    </a:solidFill>
                  </a:tcPr>
                </a:tc>
                <a:tc>
                  <a:txBody>
                    <a:bodyPr lIns="73152" rIns="73152" tIns="36576" bIns="36576"/>
                    <a:lstStyle/>
                    <a:p>
                      <a:r>
                        <a:rPr sz="1200">
                          <a:solidFill>
                            <a:srgbClr val="F2EEE5"/>
                          </a:solidFill>
                          <a:latin typeface="Calibri"/>
                        </a:rPr>
                        <a:t>68.21</a:t>
                      </a:r>
                    </a:p>
                  </a:txBody>
                  <a:tcPr>
                    <a:solidFill>
                      <a:srgbClr val="2D2D32"/>
                    </a:solidFill>
                  </a:tcPr>
                </a:tc>
                <a:tc>
                  <a:txBody>
                    <a:bodyPr lIns="73152" rIns="73152" tIns="36576" bIns="36576"/>
                    <a:lstStyle/>
                    <a:p>
                      <a:r>
                        <a:rPr sz="1200">
                          <a:solidFill>
                            <a:srgbClr val="F2EEE5"/>
                          </a:solidFill>
                          <a:latin typeface="Calibri"/>
                        </a:rPr>
                        <a:t>63.40</a:t>
                      </a:r>
                    </a:p>
                  </a:txBody>
                  <a:tcPr>
                    <a:solidFill>
                      <a:srgbClr val="2D2D32"/>
                    </a:solidFill>
                  </a:tcPr>
                </a:tc>
                <a:tc>
                  <a:txBody>
                    <a:bodyPr lIns="73152" rIns="73152" tIns="36576" bIns="36576"/>
                    <a:lstStyle/>
                    <a:p>
                      <a:r>
                        <a:rPr sz="1200">
                          <a:solidFill>
                            <a:srgbClr val="F2EEE5"/>
                          </a:solidFill>
                          <a:latin typeface="Calibri"/>
                        </a:rPr>
                        <a:t>7.30</a:t>
                      </a:r>
                    </a:p>
                  </a:txBody>
                  <a:tcPr>
                    <a:solidFill>
                      <a:srgbClr val="2D2D32"/>
                    </a:solidFill>
                  </a:tcPr>
                </a:tc>
              </a:tr>
              <a:tr h="339636">
                <a:tc>
                  <a:txBody>
                    <a:bodyPr lIns="73152" rIns="73152" tIns="36576" bIns="36576"/>
                    <a:lstStyle/>
                    <a:p>
                      <a:r>
                        <a:rPr sz="1200">
                          <a:solidFill>
                            <a:srgbClr val="F2EEE5"/>
                          </a:solidFill>
                          <a:latin typeface="Calibri"/>
                        </a:rPr>
                        <a:t>⚠️ last</a:t>
                      </a:r>
                    </a:p>
                  </a:txBody>
                  <a:tcPr>
                    <a:solidFill>
                      <a:srgbClr val="2D2D32"/>
                    </a:solidFill>
                  </a:tcPr>
                </a:tc>
                <a:tc>
                  <a:txBody>
                    <a:bodyPr lIns="73152" rIns="73152" tIns="36576" bIns="36576"/>
                    <a:lstStyle/>
                    <a:p>
                      <a:r>
                        <a:rPr sz="1200">
                          <a:solidFill>
                            <a:srgbClr val="F2EEE5"/>
                          </a:solidFill>
                          <a:latin typeface="Calibri"/>
                        </a:rPr>
                        <a:t>Claude-Sonnet × SocratTeachLLM · EN · n=50</a:t>
                      </a:r>
                    </a:p>
                  </a:txBody>
                  <a:tcPr>
                    <a:solidFill>
                      <a:srgbClr val="2D2D32"/>
                    </a:solidFill>
                  </a:tcPr>
                </a:tc>
                <a:tc>
                  <a:txBody>
                    <a:bodyPr lIns="73152" rIns="73152" tIns="36576" bIns="36576"/>
                    <a:lstStyle/>
                    <a:p>
                      <a:r>
                        <a:rPr sz="1200">
                          <a:solidFill>
                            <a:srgbClr val="F2EEE5"/>
                          </a:solidFill>
                          <a:latin typeface="Calibri"/>
                        </a:rPr>
                        <a:t>303</a:t>
                      </a:r>
                    </a:p>
                  </a:txBody>
                  <a:tcPr>
                    <a:solidFill>
                      <a:srgbClr val="2D2D32"/>
                    </a:solidFill>
                  </a:tcPr>
                </a:tc>
                <a:tc>
                  <a:txBody>
                    <a:bodyPr lIns="73152" rIns="73152" tIns="36576" bIns="36576"/>
                    <a:lstStyle/>
                    <a:p>
                      <a:r>
                        <a:rPr sz="1200" b="0" i="0">
                          <a:solidFill>
                            <a:srgbClr val="E0606B"/>
                          </a:solidFill>
                          <a:latin typeface="Calibri"/>
                        </a:rPr>
                        <a:t>44.36</a:t>
                      </a:r>
                    </a:p>
                  </a:txBody>
                  <a:tcPr>
                    <a:solidFill>
                      <a:srgbClr val="2D2D32"/>
                    </a:solidFill>
                  </a:tcPr>
                </a:tc>
                <a:tc>
                  <a:txBody>
                    <a:bodyPr lIns="73152" rIns="73152" tIns="36576" bIns="36576"/>
                    <a:lstStyle/>
                    <a:p>
                      <a:r>
                        <a:rPr sz="1200">
                          <a:solidFill>
                            <a:srgbClr val="F2EEE5"/>
                          </a:solidFill>
                          <a:latin typeface="Calibri"/>
                        </a:rPr>
                        <a:t>22.55</a:t>
                      </a:r>
                    </a:p>
                  </a:txBody>
                  <a:tcPr>
                    <a:solidFill>
                      <a:srgbClr val="2D2D32"/>
                    </a:solidFill>
                  </a:tcPr>
                </a:tc>
                <a:tc>
                  <a:txBody>
                    <a:bodyPr lIns="73152" rIns="73152" tIns="36576" bIns="36576"/>
                    <a:lstStyle/>
                    <a:p>
                      <a:r>
                        <a:rPr sz="1200">
                          <a:solidFill>
                            <a:srgbClr val="F2EEE5"/>
                          </a:solidFill>
                          <a:latin typeface="Calibri"/>
                        </a:rPr>
                        <a:t>6.62</a:t>
                      </a:r>
                    </a:p>
                  </a:txBody>
                  <a:tcPr>
                    <a:solidFill>
                      <a:srgbClr val="2D2D32"/>
                    </a:solidFill>
                  </a:tcPr>
                </a:tc>
              </a:tr>
            </a:tbl>
          </a:graphicData>
        </a:graphic>
      </p:graphicFrame>
      <p:sp>
        <p:nvSpPr>
          <p:cNvPr id="8" name="TextBox 7"/>
          <p:cNvSpPr txBox="1"/>
          <p:nvPr/>
        </p:nvSpPr>
        <p:spPr>
          <a:xfrm>
            <a:off x="457200" y="4434840"/>
            <a:ext cx="10972800" cy="365760"/>
          </a:xfrm>
          <a:prstGeom prst="rect">
            <a:avLst/>
          </a:prstGeom>
          <a:noFill/>
        </p:spPr>
        <p:txBody>
          <a:bodyPr wrap="square">
            <a:spAutoFit/>
          </a:bodyPr>
          <a:lstStyle/>
          <a:p>
            <a:pPr algn="l"/>
            <a:r>
              <a:rPr sz="1200" b="0" i="1">
                <a:solidFill>
                  <a:srgbClr val="B8B8B8"/>
                </a:solidFill>
                <a:latin typeface="Calibri"/>
              </a:rPr>
              <a:t>🏆 = locked headline (full n=681)    ⚠️ = SocratTeachLLM, contamination-inflated</a:t>
            </a:r>
          </a:p>
        </p:txBody>
      </p:sp>
      <p:sp>
        <p:nvSpPr>
          <p:cNvPr id="9" name="Rounded Rectangle 8"/>
          <p:cNvSpPr/>
          <p:nvPr/>
        </p:nvSpPr>
        <p:spPr>
          <a:xfrm>
            <a:off x="457200" y="4983480"/>
            <a:ext cx="11247120" cy="1280160"/>
          </a:xfrm>
          <a:prstGeom prst="roundRect">
            <a:avLst/>
          </a:prstGeom>
          <a:solidFill>
            <a:srgbClr val="3A3A40"/>
          </a:solidFill>
          <a:ln w="19050">
            <a:solidFill>
              <a:srgbClr val="F5C84C"/>
            </a:solidFill>
          </a:ln>
        </p:spPr>
        <p:style>
          <a:lnRef idx="1">
            <a:schemeClr val="accent1"/>
          </a:lnRef>
          <a:fillRef idx="3">
            <a:schemeClr val="accent1"/>
          </a:fillRef>
          <a:effectRef idx="2">
            <a:schemeClr val="accent1"/>
          </a:effectRef>
          <a:fontRef idx="minor">
            <a:schemeClr val="lt1"/>
          </a:fontRef>
        </p:style>
        <p:txBody>
          <a:bodyPr rtlCol="0" anchor="ctr" lIns="228600" rIns="228600" tIns="109728" bIns="109728"/>
          <a:lstStyle/>
          <a:p>
            <a:pPr algn="ctr"/>
            <a:r>
              <a:rPr sz="1300" b="1">
                <a:solidFill>
                  <a:srgbClr val="F5C84C"/>
                </a:solidFill>
              </a:rPr>
              <a:t>PARITY  </a:t>
            </a:r>
            <a:r>
              <a:rPr sz="1300">
                <a:solidFill>
                  <a:srgbClr val="F2EEE5"/>
                </a:solidFill>
              </a:rPr>
              <a:t>Best frontier (Claude Sonnet, 70.06) vs. best open-weight (Gemma 31B, 70.08) → gap = 0.02 pts. Locked headline at n=681 trails by 1.41 — inside sampling noise.</a:t>
            </a:r>
          </a:p>
          <a:p>
            <a:pPr>
              <a:spcBef>
                <a:spcPts val="600"/>
              </a:spcBef>
            </a:pPr>
            <a:r>
              <a:rPr sz="1300" i="1">
                <a:solidFill>
                  <a:srgbClr val="F08A4B"/>
                </a:solidFill>
              </a:rPr>
              <a:t>Open-weight · 32 GB consumer GPU · $0 per inference · indistinguishable from Claude Sonnet on a fair metric.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D2D32"/>
        </a:solidFill>
        <a:effectLst/>
      </p:bgPr>
    </p:bg>
    <p:spTree>
      <p:nvGrpSpPr>
        <p:cNvPr id="1" name=""/>
        <p:cNvGrpSpPr/>
        <p:nvPr/>
      </p:nvGrpSpPr>
      <p:grpSpPr/>
      <p:sp>
        <p:nvSpPr>
          <p:cNvPr id="2" name="TextBox 1"/>
          <p:cNvSpPr txBox="1"/>
          <p:nvPr/>
        </p:nvSpPr>
        <p:spPr>
          <a:xfrm>
            <a:off x="457200" y="320040"/>
            <a:ext cx="10972800" cy="731520"/>
          </a:xfrm>
          <a:prstGeom prst="rect">
            <a:avLst/>
          </a:prstGeom>
          <a:noFill/>
        </p:spPr>
        <p:txBody>
          <a:bodyPr wrap="square">
            <a:spAutoFit/>
          </a:bodyPr>
          <a:lstStyle/>
          <a:p>
            <a:pPr algn="l"/>
            <a:r>
              <a:rPr sz="3200" b="1" i="0">
                <a:solidFill>
                  <a:srgbClr val="F5C84C"/>
                </a:solidFill>
                <a:latin typeface="Calibri"/>
              </a:rPr>
              <a:t>Contamination Evidence + Cross-Lingual Transfer</a:t>
            </a:r>
          </a:p>
        </p:txBody>
      </p:sp>
      <p:sp>
        <p:nvSpPr>
          <p:cNvPr id="3" name="Rectangle 2"/>
          <p:cNvSpPr/>
          <p:nvPr/>
        </p:nvSpPr>
        <p:spPr>
          <a:xfrm>
            <a:off x="457200" y="960120"/>
            <a:ext cx="1097280" cy="45720"/>
          </a:xfrm>
          <a:prstGeom prst="rect">
            <a:avLst/>
          </a:prstGeom>
          <a:solidFill>
            <a:srgbClr val="F5C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78992"/>
            <a:ext cx="7315200" cy="274320"/>
          </a:xfrm>
          <a:prstGeom prst="rect">
            <a:avLst/>
          </a:prstGeom>
          <a:noFill/>
        </p:spPr>
        <p:txBody>
          <a:bodyPr wrap="square">
            <a:spAutoFit/>
          </a:bodyPr>
          <a:lstStyle/>
          <a:p>
            <a:pPr algn="l"/>
            <a:r>
              <a:rPr sz="1200" b="0" i="0">
                <a:solidFill>
                  <a:srgbClr val="B8B8B8"/>
                </a:solidFill>
                <a:latin typeface="Calibri"/>
              </a:rPr>
              <a:t>Max · ~75 s</a:t>
            </a:r>
          </a:p>
        </p:txBody>
      </p:sp>
      <p:sp>
        <p:nvSpPr>
          <p:cNvPr id="5" name="TextBox 4"/>
          <p:cNvSpPr txBox="1"/>
          <p:nvPr/>
        </p:nvSpPr>
        <p:spPr>
          <a:xfrm>
            <a:off x="365760" y="6446520"/>
            <a:ext cx="10972800" cy="274320"/>
          </a:xfrm>
          <a:prstGeom prst="rect">
            <a:avLst/>
          </a:prstGeom>
          <a:noFill/>
        </p:spPr>
        <p:txBody>
          <a:bodyPr wrap="square">
            <a:spAutoFit/>
          </a:bodyPr>
          <a:lstStyle/>
          <a:p>
            <a:pPr algn="l"/>
            <a:r>
              <a:rPr sz="1000" b="0" i="0">
                <a:solidFill>
                  <a:srgbClr val="B8B8B8"/>
                </a:solidFill>
                <a:latin typeface="Calibri"/>
              </a:rPr>
              <a:t>CSEN 346 · Natural Language Processing · Cyberdyne · May 26, 2026</a:t>
            </a:r>
          </a:p>
        </p:txBody>
      </p:sp>
      <p:sp>
        <p:nvSpPr>
          <p:cNvPr id="6" name="TextBox 5"/>
          <p:cNvSpPr txBox="1"/>
          <p:nvPr/>
        </p:nvSpPr>
        <p:spPr>
          <a:xfrm>
            <a:off x="457200" y="1417320"/>
            <a:ext cx="11430000" cy="457200"/>
          </a:xfrm>
          <a:prstGeom prst="rect">
            <a:avLst/>
          </a:prstGeom>
          <a:noFill/>
        </p:spPr>
        <p:txBody>
          <a:bodyPr wrap="square">
            <a:spAutoFit/>
          </a:bodyPr>
          <a:lstStyle/>
          <a:p>
            <a:pPr algn="l"/>
            <a:r>
              <a:rPr sz="1400" b="0" i="0">
                <a:solidFill>
                  <a:srgbClr val="F2EEE5"/>
                </a:solidFill>
                <a:latin typeface="Calibri"/>
              </a:rPr>
              <a:t>Direct contamination test: evaluate SocratTeachLLM on a fully synthetic test set — Claude-generated, never seen during training.</a:t>
            </a:r>
          </a:p>
        </p:txBody>
      </p:sp>
      <p:sp>
        <p:nvSpPr>
          <p:cNvPr id="7" name="Rectangle 6"/>
          <p:cNvSpPr/>
          <p:nvPr/>
        </p:nvSpPr>
        <p:spPr>
          <a:xfrm>
            <a:off x="548640" y="2103120"/>
            <a:ext cx="1371600" cy="2377440"/>
          </a:xfrm>
          <a:prstGeom prst="rect">
            <a:avLst/>
          </a:prstGeom>
          <a:solidFill>
            <a:srgbClr val="6AA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91640"/>
            <a:ext cx="1371600" cy="365760"/>
          </a:xfrm>
          <a:prstGeom prst="rect">
            <a:avLst/>
          </a:prstGeom>
          <a:noFill/>
        </p:spPr>
        <p:txBody>
          <a:bodyPr wrap="square">
            <a:spAutoFit/>
          </a:bodyPr>
          <a:lstStyle/>
          <a:p>
            <a:pPr algn="ctr"/>
            <a:r>
              <a:rPr sz="2200" b="1" i="0">
                <a:solidFill>
                  <a:srgbClr val="6AA8E0"/>
                </a:solidFill>
                <a:latin typeface="Calibri"/>
              </a:rPr>
              <a:t>63.4</a:t>
            </a:r>
          </a:p>
        </p:txBody>
      </p:sp>
      <p:sp>
        <p:nvSpPr>
          <p:cNvPr id="9" name="TextBox 8"/>
          <p:cNvSpPr txBox="1"/>
          <p:nvPr/>
        </p:nvSpPr>
        <p:spPr>
          <a:xfrm>
            <a:off x="548640" y="4526280"/>
            <a:ext cx="1371600" cy="548640"/>
          </a:xfrm>
          <a:prstGeom prst="rect">
            <a:avLst/>
          </a:prstGeom>
          <a:noFill/>
        </p:spPr>
        <p:txBody>
          <a:bodyPr wrap="square">
            <a:spAutoFit/>
          </a:bodyPr>
          <a:lstStyle/>
          <a:p>
            <a:pPr algn="ctr"/>
            <a:r>
              <a:rPr sz="1100" b="0" i="0">
                <a:solidFill>
                  <a:srgbClr val="B8B8B8"/>
                </a:solidFill>
                <a:latin typeface="Calibri"/>
              </a:rPr>
              <a:t>Original test set
(stage_bal)</a:t>
            </a:r>
          </a:p>
        </p:txBody>
      </p:sp>
      <p:sp>
        <p:nvSpPr>
          <p:cNvPr id="10" name="Rectangle 9"/>
          <p:cNvSpPr/>
          <p:nvPr/>
        </p:nvSpPr>
        <p:spPr>
          <a:xfrm>
            <a:off x="2286000" y="3248342"/>
            <a:ext cx="1371600" cy="1232218"/>
          </a:xfrm>
          <a:prstGeom prst="rect">
            <a:avLst/>
          </a:prstGeom>
          <a:solidFill>
            <a:srgbClr val="E06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0" y="2836862"/>
            <a:ext cx="1371600" cy="365760"/>
          </a:xfrm>
          <a:prstGeom prst="rect">
            <a:avLst/>
          </a:prstGeom>
          <a:noFill/>
        </p:spPr>
        <p:txBody>
          <a:bodyPr wrap="square">
            <a:spAutoFit/>
          </a:bodyPr>
          <a:lstStyle/>
          <a:p>
            <a:pPr algn="ctr"/>
            <a:r>
              <a:rPr sz="2200" b="1" i="0">
                <a:solidFill>
                  <a:srgbClr val="E0606B"/>
                </a:solidFill>
                <a:latin typeface="Calibri"/>
              </a:rPr>
              <a:t>32.86</a:t>
            </a:r>
          </a:p>
        </p:txBody>
      </p:sp>
      <p:sp>
        <p:nvSpPr>
          <p:cNvPr id="12" name="TextBox 11"/>
          <p:cNvSpPr txBox="1"/>
          <p:nvPr/>
        </p:nvSpPr>
        <p:spPr>
          <a:xfrm>
            <a:off x="2286000" y="4526280"/>
            <a:ext cx="1371600" cy="548640"/>
          </a:xfrm>
          <a:prstGeom prst="rect">
            <a:avLst/>
          </a:prstGeom>
          <a:noFill/>
        </p:spPr>
        <p:txBody>
          <a:bodyPr wrap="square">
            <a:spAutoFit/>
          </a:bodyPr>
          <a:lstStyle/>
          <a:p>
            <a:pPr algn="ctr"/>
            <a:r>
              <a:rPr sz="1100" b="0" i="0">
                <a:solidFill>
                  <a:srgbClr val="B8B8B8"/>
                </a:solidFill>
                <a:latin typeface="Calibri"/>
              </a:rPr>
              <a:t>Synthetic clean test
(unseen data)</a:t>
            </a:r>
          </a:p>
        </p:txBody>
      </p:sp>
      <p:sp>
        <p:nvSpPr>
          <p:cNvPr id="13" name="Rounded Rectangle 12"/>
          <p:cNvSpPr/>
          <p:nvPr/>
        </p:nvSpPr>
        <p:spPr>
          <a:xfrm>
            <a:off x="4023360" y="2651760"/>
            <a:ext cx="2377440" cy="1280160"/>
          </a:xfrm>
          <a:prstGeom prst="roundRect">
            <a:avLst/>
          </a:prstGeom>
          <a:solidFill>
            <a:srgbClr val="3A3A40"/>
          </a:solidFill>
          <a:ln w="19050">
            <a:solidFill>
              <a:srgbClr val="E0606B"/>
            </a:solidFill>
          </a:ln>
        </p:spPr>
        <p:style>
          <a:lnRef idx="1">
            <a:schemeClr val="accent1"/>
          </a:lnRef>
          <a:fillRef idx="3">
            <a:schemeClr val="accent1"/>
          </a:fillRef>
          <a:effectRef idx="2">
            <a:schemeClr val="accent1"/>
          </a:effectRef>
          <a:fontRef idx="minor">
            <a:schemeClr val="lt1"/>
          </a:fontRef>
        </p:style>
        <p:txBody>
          <a:bodyPr rtlCol="0" anchor="ctr" lIns="137160" tIns="137160"/>
          <a:lstStyle/>
          <a:p>
            <a:pPr algn="ctr"/>
            <a:r>
              <a:rPr sz="2800" b="1">
                <a:solidFill>
                  <a:srgbClr val="E0606B"/>
                </a:solidFill>
              </a:rPr>
              <a:t>−30 pts</a:t>
            </a:r>
          </a:p>
          <a:p>
            <a:pPr algn="ctr"/>
            <a:r>
              <a:rPr sz="1400" i="1">
                <a:solidFill>
                  <a:srgbClr val="F2EEE5"/>
                </a:solidFill>
              </a:rPr>
              <a:t>= memorization</a:t>
            </a:r>
          </a:p>
        </p:txBody>
      </p:sp>
      <p:sp>
        <p:nvSpPr>
          <p:cNvPr id="14" name="TextBox 13"/>
          <p:cNvSpPr txBox="1"/>
          <p:nvPr/>
        </p:nvSpPr>
        <p:spPr>
          <a:xfrm>
            <a:off x="7315200" y="2011680"/>
            <a:ext cx="4572000" cy="365760"/>
          </a:xfrm>
          <a:prstGeom prst="rect">
            <a:avLst/>
          </a:prstGeom>
          <a:noFill/>
        </p:spPr>
        <p:txBody>
          <a:bodyPr wrap="square">
            <a:spAutoFit/>
          </a:bodyPr>
          <a:lstStyle/>
          <a:p>
            <a:pPr algn="l"/>
            <a:r>
              <a:rPr sz="1600" b="1" i="0">
                <a:solidFill>
                  <a:srgbClr val="F5C84C"/>
                </a:solidFill>
                <a:latin typeface="Calibri"/>
              </a:rPr>
              <a:t>Cross-lingual transfer (SocratDataset-EN):</a:t>
            </a:r>
          </a:p>
        </p:txBody>
      </p:sp>
      <p:sp>
        <p:nvSpPr>
          <p:cNvPr id="15" name="TextBox 14"/>
          <p:cNvSpPr txBox="1"/>
          <p:nvPr/>
        </p:nvSpPr>
        <p:spPr>
          <a:xfrm>
            <a:off x="7315200" y="2423160"/>
            <a:ext cx="4572000" cy="2011680"/>
          </a:xfrm>
          <a:prstGeom prst="rect">
            <a:avLst/>
          </a:prstGeom>
          <a:noFill/>
        </p:spPr>
        <p:txBody>
          <a:bodyPr wrap="square">
            <a:spAutoFit/>
          </a:bodyPr>
          <a:lstStyle/>
          <a:p>
            <a:pPr algn="l">
              <a:lnSpc>
                <a:spcPct val="115000"/>
              </a:lnSpc>
              <a:spcAft>
                <a:spcPts val="400"/>
              </a:spcAft>
            </a:pPr>
            <a:r>
              <a:rPr sz="1600" b="1">
                <a:solidFill>
                  <a:srgbClr val="F5C84C"/>
                </a:solidFill>
                <a:latin typeface="Calibri"/>
              </a:rPr>
              <a:t>• </a:t>
            </a:r>
            <a:r>
              <a:rPr sz="1200" b="0" i="0">
                <a:solidFill>
                  <a:srgbClr val="F2EEE5"/>
                </a:solidFill>
                <a:latin typeface="Calibri"/>
              </a:rPr>
              <a:t>Translated all 6,803 dialogues to English; published on HF</a:t>
            </a:r>
          </a:p>
          <a:p>
            <a:pPr algn="l">
              <a:lnSpc>
                <a:spcPct val="115000"/>
              </a:lnSpc>
              <a:spcAft>
                <a:spcPts val="400"/>
              </a:spcAft>
            </a:pPr>
            <a:r>
              <a:rPr sz="1600" b="1">
                <a:solidFill>
                  <a:srgbClr val="F5C84C"/>
                </a:solidFill>
                <a:latin typeface="Calibri"/>
              </a:rPr>
              <a:t>• </a:t>
            </a:r>
            <a:r>
              <a:rPr sz="1200" b="0" i="0">
                <a:solidFill>
                  <a:srgbClr val="F2EEE5"/>
                </a:solidFill>
                <a:latin typeface="Calibri"/>
              </a:rPr>
              <a:t>Our qwen3.5 consultant (Chinese-trained only) → unified 65.11 at n=400 on the English split</a:t>
            </a:r>
          </a:p>
          <a:p>
            <a:pPr algn="l">
              <a:lnSpc>
                <a:spcPct val="115000"/>
              </a:lnSpc>
              <a:spcAft>
                <a:spcPts val="400"/>
              </a:spcAft>
            </a:pPr>
            <a:r>
              <a:rPr sz="1600" b="1">
                <a:solidFill>
                  <a:srgbClr val="F5C84C"/>
                </a:solidFill>
                <a:latin typeface="Calibri"/>
              </a:rPr>
              <a:t>• </a:t>
            </a:r>
            <a:r>
              <a:rPr sz="1200" b="0" i="0">
                <a:solidFill>
                  <a:srgbClr val="F08A4B"/>
                </a:solidFill>
                <a:latin typeface="Calibri"/>
              </a:rPr>
              <a:t>SocRule routing is language-invariant</a:t>
            </a:r>
          </a:p>
          <a:p>
            <a:pPr algn="l">
              <a:lnSpc>
                <a:spcPct val="115000"/>
              </a:lnSpc>
              <a:spcAft>
                <a:spcPts val="400"/>
              </a:spcAft>
            </a:pPr>
            <a:r>
              <a:rPr sz="1600" b="1">
                <a:solidFill>
                  <a:srgbClr val="F5C84C"/>
                </a:solidFill>
                <a:latin typeface="Calibri"/>
              </a:rPr>
              <a:t>• </a:t>
            </a:r>
            <a:r>
              <a:rPr sz="1100" b="0" i="1">
                <a:solidFill>
                  <a:srgbClr val="B8B8B8"/>
                </a:solidFill>
                <a:latin typeface="Calibri"/>
              </a:rPr>
              <a:t>(Directly addresses the paper's own §Limitations: "No cross-lingual evaluation.")</a:t>
            </a:r>
          </a:p>
        </p:txBody>
      </p:sp>
      <p:sp>
        <p:nvSpPr>
          <p:cNvPr id="16" name="TextBox 15"/>
          <p:cNvSpPr txBox="1"/>
          <p:nvPr/>
        </p:nvSpPr>
        <p:spPr>
          <a:xfrm>
            <a:off x="457200" y="5760720"/>
            <a:ext cx="11430000" cy="457200"/>
          </a:xfrm>
          <a:prstGeom prst="rect">
            <a:avLst/>
          </a:prstGeom>
          <a:noFill/>
        </p:spPr>
        <p:txBody>
          <a:bodyPr wrap="square">
            <a:spAutoFit/>
          </a:bodyPr>
          <a:lstStyle/>
          <a:p>
            <a:pPr algn="l"/>
            <a:r>
              <a:rPr sz="1200" b="0" i="1">
                <a:solidFill>
                  <a:srgbClr val="B8B8B8"/>
                </a:solidFill>
                <a:latin typeface="Calibri"/>
              </a:rPr>
              <a:t>PR #79 (2026-05-25): contamination probe now bilingual — SocratDataset-SYNTHETIC-EN (n=75) live on HF.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D2D32"/>
        </a:solidFill>
        <a:effectLst/>
      </p:bgPr>
    </p:bg>
    <p:spTree>
      <p:nvGrpSpPr>
        <p:cNvPr id="1" name=""/>
        <p:cNvGrpSpPr/>
        <p:nvPr/>
      </p:nvGrpSpPr>
      <p:grpSpPr/>
      <p:sp>
        <p:nvSpPr>
          <p:cNvPr id="2" name="TextBox 1"/>
          <p:cNvSpPr txBox="1"/>
          <p:nvPr/>
        </p:nvSpPr>
        <p:spPr>
          <a:xfrm>
            <a:off x="457200" y="320040"/>
            <a:ext cx="10972800" cy="731520"/>
          </a:xfrm>
          <a:prstGeom prst="rect">
            <a:avLst/>
          </a:prstGeom>
          <a:noFill/>
        </p:spPr>
        <p:txBody>
          <a:bodyPr wrap="square">
            <a:spAutoFit/>
          </a:bodyPr>
          <a:lstStyle/>
          <a:p>
            <a:pPr algn="l"/>
            <a:r>
              <a:rPr sz="3200" b="1" i="0">
                <a:solidFill>
                  <a:srgbClr val="F5C84C"/>
                </a:solidFill>
                <a:latin typeface="Calibri"/>
              </a:rPr>
              <a:t>Conclusion + Takeaways</a:t>
            </a:r>
          </a:p>
        </p:txBody>
      </p:sp>
      <p:sp>
        <p:nvSpPr>
          <p:cNvPr id="3" name="Rectangle 2"/>
          <p:cNvSpPr/>
          <p:nvPr/>
        </p:nvSpPr>
        <p:spPr>
          <a:xfrm>
            <a:off x="457200" y="960120"/>
            <a:ext cx="1097280" cy="45720"/>
          </a:xfrm>
          <a:prstGeom prst="rect">
            <a:avLst/>
          </a:prstGeom>
          <a:solidFill>
            <a:srgbClr val="F5C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78992"/>
            <a:ext cx="7315200" cy="274320"/>
          </a:xfrm>
          <a:prstGeom prst="rect">
            <a:avLst/>
          </a:prstGeom>
          <a:noFill/>
        </p:spPr>
        <p:txBody>
          <a:bodyPr wrap="square">
            <a:spAutoFit/>
          </a:bodyPr>
          <a:lstStyle/>
          <a:p>
            <a:pPr algn="l"/>
            <a:r>
              <a:rPr sz="1200" b="0" i="0">
                <a:solidFill>
                  <a:srgbClr val="B8B8B8"/>
                </a:solidFill>
                <a:latin typeface="Calibri"/>
              </a:rPr>
              <a:t>Max · ~75 s</a:t>
            </a:r>
          </a:p>
        </p:txBody>
      </p:sp>
      <p:sp>
        <p:nvSpPr>
          <p:cNvPr id="5" name="TextBox 4"/>
          <p:cNvSpPr txBox="1"/>
          <p:nvPr/>
        </p:nvSpPr>
        <p:spPr>
          <a:xfrm>
            <a:off x="365760" y="6446520"/>
            <a:ext cx="10972800" cy="274320"/>
          </a:xfrm>
          <a:prstGeom prst="rect">
            <a:avLst/>
          </a:prstGeom>
          <a:noFill/>
        </p:spPr>
        <p:txBody>
          <a:bodyPr wrap="square">
            <a:spAutoFit/>
          </a:bodyPr>
          <a:lstStyle/>
          <a:p>
            <a:pPr algn="l"/>
            <a:r>
              <a:rPr sz="1000" b="0" i="0">
                <a:solidFill>
                  <a:srgbClr val="B8B8B8"/>
                </a:solidFill>
                <a:latin typeface="Calibri"/>
              </a:rPr>
              <a:t>CSEN 346 · Natural Language Processing · Cyberdyne · May 26, 2026</a:t>
            </a:r>
          </a:p>
        </p:txBody>
      </p:sp>
      <p:sp>
        <p:nvSpPr>
          <p:cNvPr id="6" name="Rounded Rectangle 5"/>
          <p:cNvSpPr/>
          <p:nvPr/>
        </p:nvSpPr>
        <p:spPr>
          <a:xfrm>
            <a:off x="457200" y="1554480"/>
            <a:ext cx="3657600" cy="2286000"/>
          </a:xfrm>
          <a:prstGeom prst="roundRect">
            <a:avLst/>
          </a:prstGeom>
          <a:solidFill>
            <a:srgbClr val="3A3A40"/>
          </a:solidFill>
          <a:ln w="19050">
            <a:solidFill>
              <a:srgbClr val="F5C84C"/>
            </a:solidFill>
          </a:ln>
        </p:spPr>
        <p:style>
          <a:lnRef idx="1">
            <a:schemeClr val="accent1"/>
          </a:lnRef>
          <a:fillRef idx="3">
            <a:schemeClr val="accent1"/>
          </a:fillRef>
          <a:effectRef idx="2">
            <a:schemeClr val="accent1"/>
          </a:effectRef>
          <a:fontRef idx="minor">
            <a:schemeClr val="lt1"/>
          </a:fontRef>
        </p:style>
        <p:txBody>
          <a:bodyPr rtlCol="0" anchor="ctr" lIns="182880" rIns="182880" tIns="164592" bIns="164592" wrap="square"/>
          <a:lstStyle/>
          <a:p>
            <a:pPr algn="ctr"/>
            <a:r>
              <a:rPr sz="4000" b="1">
                <a:solidFill>
                  <a:srgbClr val="F5C84C"/>
                </a:solidFill>
                <a:latin typeface="Calibri"/>
              </a:rPr>
              <a:t>1</a:t>
            </a:r>
          </a:p>
          <a:p>
            <a:pPr>
              <a:spcBef>
                <a:spcPts val="400"/>
              </a:spcBef>
            </a:pPr>
            <a:r>
              <a:rPr sz="1400" b="1">
                <a:solidFill>
                  <a:srgbClr val="F2EEE5"/>
                </a:solidFill>
                <a:latin typeface="Calibri"/>
              </a:rPr>
              <a:t>Replace the LLM consultant with a 24M-param BERT classifier.</a:t>
            </a:r>
          </a:p>
          <a:p>
            <a:pPr>
              <a:spcBef>
                <a:spcPts val="800"/>
              </a:spcBef>
            </a:pPr>
            <a:r>
              <a:rPr sz="1200" i="1">
                <a:solidFill>
                  <a:srgbClr val="B8B8B8"/>
                </a:solidFill>
                <a:latin typeface="Calibri"/>
              </a:rPr>
              <a:t>Same state-routing accuracy. Zero per-run API cost.</a:t>
            </a:r>
          </a:p>
        </p:txBody>
      </p:sp>
      <p:sp>
        <p:nvSpPr>
          <p:cNvPr id="7" name="Rounded Rectangle 6"/>
          <p:cNvSpPr/>
          <p:nvPr/>
        </p:nvSpPr>
        <p:spPr>
          <a:xfrm>
            <a:off x="4251960" y="1554480"/>
            <a:ext cx="3657600" cy="2286000"/>
          </a:xfrm>
          <a:prstGeom prst="roundRect">
            <a:avLst/>
          </a:prstGeom>
          <a:solidFill>
            <a:srgbClr val="3A3A40"/>
          </a:solidFill>
          <a:ln w="19050">
            <a:solidFill>
              <a:srgbClr val="F5C84C"/>
            </a:solidFill>
          </a:ln>
        </p:spPr>
        <p:style>
          <a:lnRef idx="1">
            <a:schemeClr val="accent1"/>
          </a:lnRef>
          <a:fillRef idx="3">
            <a:schemeClr val="accent1"/>
          </a:fillRef>
          <a:effectRef idx="2">
            <a:schemeClr val="accent1"/>
          </a:effectRef>
          <a:fontRef idx="minor">
            <a:schemeClr val="lt1"/>
          </a:fontRef>
        </p:style>
        <p:txBody>
          <a:bodyPr rtlCol="0" anchor="ctr" lIns="182880" rIns="182880" tIns="164592" bIns="164592" wrap="square"/>
          <a:lstStyle/>
          <a:p>
            <a:pPr algn="ctr"/>
            <a:r>
              <a:rPr sz="4000" b="1">
                <a:solidFill>
                  <a:srgbClr val="F5C84C"/>
                </a:solidFill>
                <a:latin typeface="Calibri"/>
              </a:rPr>
              <a:t>2</a:t>
            </a:r>
          </a:p>
          <a:p>
            <a:pPr>
              <a:spcBef>
                <a:spcPts val="400"/>
              </a:spcBef>
            </a:pPr>
            <a:r>
              <a:rPr sz="1400" b="1">
                <a:solidFill>
                  <a:srgbClr val="F2EEE5"/>
                </a:solidFill>
                <a:latin typeface="Calibri"/>
              </a:rPr>
              <a:t>ROUGE/BLEU are misleading for Socratic teaching.</a:t>
            </a:r>
          </a:p>
          <a:p>
            <a:pPr>
              <a:spcBef>
                <a:spcPts val="800"/>
              </a:spcBef>
            </a:pPr>
            <a:r>
              <a:rPr sz="1200" i="1">
                <a:solidFill>
                  <a:srgbClr val="B8B8B8"/>
                </a:solidFill>
                <a:latin typeface="Calibri"/>
              </a:rPr>
              <a:t>The paper's "winner" ranks last on pedagogical accuracy. The unified score fixes this.</a:t>
            </a:r>
          </a:p>
        </p:txBody>
      </p:sp>
      <p:sp>
        <p:nvSpPr>
          <p:cNvPr id="8" name="Rounded Rectangle 7"/>
          <p:cNvSpPr/>
          <p:nvPr/>
        </p:nvSpPr>
        <p:spPr>
          <a:xfrm>
            <a:off x="8046720" y="1554480"/>
            <a:ext cx="3657600" cy="2286000"/>
          </a:xfrm>
          <a:prstGeom prst="roundRect">
            <a:avLst/>
          </a:prstGeom>
          <a:solidFill>
            <a:srgbClr val="3A3A40"/>
          </a:solidFill>
          <a:ln w="19050">
            <a:solidFill>
              <a:srgbClr val="F5C84C"/>
            </a:solidFill>
          </a:ln>
        </p:spPr>
        <p:style>
          <a:lnRef idx="1">
            <a:schemeClr val="accent1"/>
          </a:lnRef>
          <a:fillRef idx="3">
            <a:schemeClr val="accent1"/>
          </a:fillRef>
          <a:effectRef idx="2">
            <a:schemeClr val="accent1"/>
          </a:effectRef>
          <a:fontRef idx="minor">
            <a:schemeClr val="lt1"/>
          </a:fontRef>
        </p:style>
        <p:txBody>
          <a:bodyPr rtlCol="0" anchor="ctr" lIns="182880" rIns="182880" tIns="164592" bIns="164592" wrap="square"/>
          <a:lstStyle/>
          <a:p>
            <a:pPr algn="ctr"/>
            <a:r>
              <a:rPr sz="4000" b="1">
                <a:solidFill>
                  <a:srgbClr val="F5C84C"/>
                </a:solidFill>
                <a:latin typeface="Calibri"/>
              </a:rPr>
              <a:t>3</a:t>
            </a:r>
          </a:p>
          <a:p>
            <a:pPr>
              <a:spcBef>
                <a:spcPts val="400"/>
              </a:spcBef>
            </a:pPr>
            <a:r>
              <a:rPr sz="1400" b="1">
                <a:solidFill>
                  <a:srgbClr val="F2EEE5"/>
                </a:solidFill>
                <a:latin typeface="Calibri"/>
              </a:rPr>
              <a:t>Open-weight local models reach frontier parity on a memorization-resistant benchmark.</a:t>
            </a:r>
          </a:p>
          <a:p>
            <a:pPr>
              <a:spcBef>
                <a:spcPts val="800"/>
              </a:spcBef>
            </a:pPr>
            <a:r>
              <a:rPr sz="1200" i="1">
                <a:solidFill>
                  <a:srgbClr val="B8B8B8"/>
                </a:solidFill>
                <a:latin typeface="Calibri"/>
              </a:rPr>
              <a:t>Gemma 31B + BERT + 10-shot ≈ Claude Sonnet within sampling noise.</a:t>
            </a:r>
          </a:p>
        </p:txBody>
      </p:sp>
      <p:sp>
        <p:nvSpPr>
          <p:cNvPr id="9" name="Rounded Rectangle 8"/>
          <p:cNvSpPr/>
          <p:nvPr/>
        </p:nvSpPr>
        <p:spPr>
          <a:xfrm>
            <a:off x="457200" y="4069080"/>
            <a:ext cx="11247120" cy="822960"/>
          </a:xfrm>
          <a:prstGeom prst="roundRect">
            <a:avLst/>
          </a:prstGeom>
          <a:solidFill>
            <a:srgbClr val="3A3A40"/>
          </a:solidFill>
          <a:ln w="19050">
            <a:solidFill>
              <a:srgbClr val="F08A4B"/>
            </a:solidFill>
          </a:ln>
        </p:spPr>
        <p:style>
          <a:lnRef idx="1">
            <a:schemeClr val="accent1"/>
          </a:lnRef>
          <a:fillRef idx="3">
            <a:schemeClr val="accent1"/>
          </a:fillRef>
          <a:effectRef idx="2">
            <a:schemeClr val="accent1"/>
          </a:effectRef>
          <a:fontRef idx="minor">
            <a:schemeClr val="lt1"/>
          </a:fontRef>
        </p:style>
        <p:txBody>
          <a:bodyPr rtlCol="0" anchor="ctr" tIns="228600"/>
          <a:lstStyle/>
          <a:p>
            <a:pPr algn="ctr"/>
            <a:r>
              <a:rPr sz="2000" i="1">
                <a:solidFill>
                  <a:srgbClr val="F08A4B"/>
                </a:solidFill>
                <a:latin typeface="Calibri"/>
              </a:rPr>
              <a:t>"If you're evaluating educational AI, measure pedagogy — not n-gram overlap."</a:t>
            </a:r>
          </a:p>
        </p:txBody>
      </p:sp>
      <p:sp>
        <p:nvSpPr>
          <p:cNvPr id="10" name="TextBox 9"/>
          <p:cNvSpPr txBox="1"/>
          <p:nvPr/>
        </p:nvSpPr>
        <p:spPr>
          <a:xfrm>
            <a:off x="457200" y="5074920"/>
            <a:ext cx="11247120" cy="548640"/>
          </a:xfrm>
          <a:prstGeom prst="rect">
            <a:avLst/>
          </a:prstGeom>
          <a:noFill/>
        </p:spPr>
        <p:txBody>
          <a:bodyPr wrap="square">
            <a:spAutoFit/>
          </a:bodyPr>
          <a:lstStyle/>
          <a:p>
            <a:pPr algn="l"/>
            <a:r>
              <a:rPr sz="1300" b="0" i="1">
                <a:solidFill>
                  <a:srgbClr val="B8B8B8"/>
                </a:solidFill>
                <a:latin typeface="Calibri"/>
              </a:rPr>
              <a:t>In flight for June 4: Stage 2 SFT pipeline shipped (PR #79). Training in progress on Gemma 4 31B-IT (pivoted from Qwen3.6-27B — ROCm/Triton 3.6.0 issue on gfx1201).</a:t>
            </a:r>
          </a:p>
        </p:txBody>
      </p:sp>
      <p:sp>
        <p:nvSpPr>
          <p:cNvPr id="11" name="TextBox 10"/>
          <p:cNvSpPr txBox="1"/>
          <p:nvPr/>
        </p:nvSpPr>
        <p:spPr>
          <a:xfrm>
            <a:off x="457200" y="5852160"/>
            <a:ext cx="11247120" cy="365760"/>
          </a:xfrm>
          <a:prstGeom prst="rect">
            <a:avLst/>
          </a:prstGeom>
          <a:noFill/>
        </p:spPr>
        <p:txBody>
          <a:bodyPr wrap="square">
            <a:spAutoFit/>
          </a:bodyPr>
          <a:lstStyle/>
          <a:p>
            <a:pPr algn="l"/>
            <a:r>
              <a:rPr sz="1400" b="0" i="0">
                <a:solidFill>
                  <a:srgbClr val="6AA8E0"/>
                </a:solidFill>
                <a:latin typeface="Calibri"/>
              </a:rPr>
              <a:t>github.com/ulises-c/csen-346  ·  huggingface.co/ulises-c  ·  paper draft in deliverables/overleaf/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